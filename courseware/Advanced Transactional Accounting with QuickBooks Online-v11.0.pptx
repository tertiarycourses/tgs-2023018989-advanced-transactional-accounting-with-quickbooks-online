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168000</c:v>
                </c:pt>
                <c:pt idx="1">
                  <c:v>192000</c:v>
                </c:pt>
                <c:pt idx="2">
                  <c:v>215000</c:v>
                </c:pt>
              </c:numCache>
            </c:numRef>
          </c:val>
          <c:smooth val="0"/>
        </c:ser>
        <c:ser>
          <c:idx val="1"/>
          <c:order val="1"/>
          <c:tx>
            <c:strRef>
              <c:f>Sheet1!$C$1</c:f>
              <c:strCache>
                <c:ptCount val="1"/>
                <c:pt idx="0">
                  <c:v>Net profit</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29500</c:v>
                </c:pt>
                <c:pt idx="1">
                  <c:v>38400</c:v>
                </c:pt>
                <c:pt idx="2">
                  <c:v>44600</c:v>
                </c:pt>
              </c:numCache>
            </c:numRef>
          </c:val>
          <c:smooth val="0"/>
        </c:ser>
        <c:ser>
          <c:idx val="2"/>
          <c:order val="2"/>
          <c:tx>
            <c:strRef>
              <c:f>Sheet1!$D$1</c:f>
              <c:strCache>
                <c:ptCount val="1"/>
                <c:pt idx="0">
                  <c:v>Operating cash</c:v>
                </c:pt>
              </c:strCache>
            </c:strRef>
          </c:tx>
          <c:spPr>
            <a:solidFill>
              <a:srgbClr val="7C3AED"/>
            </a:solidFill>
          </c:spPr>
          <c:cat>
            <c:strRef>
              <c:f>Sheet1!$A$2:$A$4</c:f>
              <c:strCache>
                <c:ptCount val="3"/>
                <c:pt idx="0">
                  <c:v>April</c:v>
                </c:pt>
                <c:pt idx="1">
                  <c:v>May</c:v>
                </c:pt>
                <c:pt idx="2">
                  <c:v>June</c:v>
                </c:pt>
              </c:strCache>
            </c:strRef>
          </c:cat>
          <c:val>
            <c:numRef>
              <c:f>Sheet1!$D$2:$D$4</c:f>
              <c:numCache>
                <c:formatCode>General</c:formatCode>
                <c:ptCount val="3"/>
                <c:pt idx="0">
                  <c:v>41000</c:v>
                </c:pt>
                <c:pt idx="1">
                  <c:v>23800</c:v>
                </c:pt>
                <c:pt idx="2">
                  <c:v>17100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AR</c:v>
                </c:pt>
              </c:strCache>
            </c:strRef>
          </c:tx>
          <c:spPr>
            <a:solidFill>
              <a:srgbClr val="1F6FEB"/>
            </a:solidFill>
          </c:spPr>
          <c:cat>
            <c:strRef>
              <c:f>Sheet1!$A$2:$A$6</c:f>
              <c:strCache>
                <c:ptCount val="5"/>
                <c:pt idx="0">
                  <c:v>Current</c:v>
                </c:pt>
                <c:pt idx="1">
                  <c:v>1–30</c:v>
                </c:pt>
                <c:pt idx="2">
                  <c:v>31–60</c:v>
                </c:pt>
                <c:pt idx="3">
                  <c:v>61–90</c:v>
                </c:pt>
                <c:pt idx="4">
                  <c:v>90+</c:v>
                </c:pt>
              </c:strCache>
            </c:strRef>
          </c:cat>
          <c:val>
            <c:numRef>
              <c:f>Sheet1!$B$2:$B$6</c:f>
              <c:numCache>
                <c:formatCode>General</c:formatCode>
                <c:ptCount val="5"/>
                <c:pt idx="0">
                  <c:v>27500</c:v>
                </c:pt>
                <c:pt idx="1">
                  <c:v>25000</c:v>
                </c:pt>
                <c:pt idx="2">
                  <c:v>20500</c:v>
                </c:pt>
                <c:pt idx="3">
                  <c:v>6500</c:v>
                </c:pt>
                <c:pt idx="4">
                  <c:v>9000</c:v>
                </c:pt>
              </c:numCache>
            </c:numRef>
          </c:val>
        </c:ser>
        <c:ser>
          <c:idx val="1"/>
          <c:order val="1"/>
          <c:tx>
            <c:strRef>
              <c:f>Sheet1!$C$1</c:f>
              <c:strCache>
                <c:ptCount val="1"/>
                <c:pt idx="0">
                  <c:v>AP</c:v>
                </c:pt>
              </c:strCache>
            </c:strRef>
          </c:tx>
          <c:spPr>
            <a:solidFill>
              <a:srgbClr val="008E8E"/>
            </a:solidFill>
          </c:spPr>
          <c:cat>
            <c:strRef>
              <c:f>Sheet1!$A$2:$A$6</c:f>
              <c:strCache>
                <c:ptCount val="5"/>
                <c:pt idx="0">
                  <c:v>Current</c:v>
                </c:pt>
                <c:pt idx="1">
                  <c:v>1–30</c:v>
                </c:pt>
                <c:pt idx="2">
                  <c:v>31–60</c:v>
                </c:pt>
                <c:pt idx="3">
                  <c:v>61–90</c:v>
                </c:pt>
                <c:pt idx="4">
                  <c:v>90+</c:v>
                </c:pt>
              </c:strCache>
            </c:strRef>
          </c:cat>
          <c:val>
            <c:numRef>
              <c:f>Sheet1!$C$2:$C$6</c:f>
              <c:numCache>
                <c:formatCode>General</c:formatCode>
                <c:ptCount val="5"/>
                <c:pt idx="0">
                  <c:v>30500</c:v>
                </c:pt>
                <c:pt idx="1">
                  <c:v>12957</c:v>
                </c:pt>
                <c:pt idx="2">
                  <c:v>3200</c:v>
                </c:pt>
                <c:pt idx="3">
                  <c:v>0</c:v>
                </c:pt>
                <c:pt idx="4">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1F6FEB"/>
            </a:solidFill>
          </c:spPr>
          <c:cat>
            <c:strRef>
              <c:f>Sheet1!$A$2:$A$4</c:f>
              <c:strCache>
                <c:ptCount val="3"/>
                <c:pt idx="0">
                  <c:v>Atlas</c:v>
                </c:pt>
                <c:pt idx="1">
                  <c:v>Clinic</c:v>
                </c:pt>
                <c:pt idx="2">
                  <c:v>Retainer</c:v>
                </c:pt>
              </c:strCache>
            </c:strRef>
          </c:cat>
          <c:val>
            <c:numRef>
              <c:f>Sheet1!$B$2:$B$4</c:f>
              <c:numCache>
                <c:formatCode>General</c:formatCode>
                <c:ptCount val="3"/>
                <c:pt idx="0">
                  <c:v>42000</c:v>
                </c:pt>
                <c:pt idx="1">
                  <c:v>22000</c:v>
                </c:pt>
                <c:pt idx="2">
                  <c:v>18000</c:v>
                </c:pt>
              </c:numCache>
            </c:numRef>
          </c:val>
        </c:ser>
        <c:ser>
          <c:idx val="1"/>
          <c:order val="1"/>
          <c:tx>
            <c:strRef>
              <c:f>Sheet1!$C$1</c:f>
              <c:strCache>
                <c:ptCount val="1"/>
                <c:pt idx="0">
                  <c:v>Cost</c:v>
                </c:pt>
              </c:strCache>
            </c:strRef>
          </c:tx>
          <c:spPr>
            <a:solidFill>
              <a:srgbClr val="008E8E"/>
            </a:solidFill>
          </c:spPr>
          <c:cat>
            <c:strRef>
              <c:f>Sheet1!$A$2:$A$4</c:f>
              <c:strCache>
                <c:ptCount val="3"/>
                <c:pt idx="0">
                  <c:v>Atlas</c:v>
                </c:pt>
                <c:pt idx="1">
                  <c:v>Clinic</c:v>
                </c:pt>
                <c:pt idx="2">
                  <c:v>Retainer</c:v>
                </c:pt>
              </c:strCache>
            </c:strRef>
          </c:cat>
          <c:val>
            <c:numRef>
              <c:f>Sheet1!$C$2:$C$4</c:f>
              <c:numCache>
                <c:formatCode>General</c:formatCode>
                <c:ptCount val="3"/>
                <c:pt idx="0">
                  <c:v>24800</c:v>
                </c:pt>
                <c:pt idx="1">
                  <c:v>14800</c:v>
                </c:pt>
                <c:pt idx="2">
                  <c:v>10300</c:v>
                </c:pt>
              </c:numCache>
            </c:numRef>
          </c:val>
        </c:ser>
        <c:ser>
          <c:idx val="2"/>
          <c:order val="2"/>
          <c:tx>
            <c:strRef>
              <c:f>Sheet1!$D$1</c:f>
              <c:strCache>
                <c:ptCount val="1"/>
                <c:pt idx="0">
                  <c:v>Profit</c:v>
                </c:pt>
              </c:strCache>
            </c:strRef>
          </c:tx>
          <c:spPr>
            <a:solidFill>
              <a:srgbClr val="7C3AED"/>
            </a:solidFill>
          </c:spPr>
          <c:cat>
            <c:strRef>
              <c:f>Sheet1!$A$2:$A$4</c:f>
              <c:strCache>
                <c:ptCount val="3"/>
                <c:pt idx="0">
                  <c:v>Atlas</c:v>
                </c:pt>
                <c:pt idx="1">
                  <c:v>Clinic</c:v>
                </c:pt>
                <c:pt idx="2">
                  <c:v>Retainer</c:v>
                </c:pt>
              </c:strCache>
            </c:strRef>
          </c:cat>
          <c:val>
            <c:numRef>
              <c:f>Sheet1!$D$2:$D$4</c:f>
              <c:numCache>
                <c:formatCode>General</c:formatCode>
                <c:ptCount val="3"/>
                <c:pt idx="0">
                  <c:v>17200</c:v>
                </c:pt>
                <c:pt idx="1">
                  <c:v>7200</c:v>
                </c:pt>
                <c:pt idx="2">
                  <c:v>7700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Output tax</c:v>
                </c:pt>
              </c:strCache>
            </c:strRef>
          </c:tx>
          <c:spPr>
            <a:solidFill>
              <a:srgbClr val="1F6FEB"/>
            </a:solidFill>
          </c:spPr>
          <c:cat>
            <c:strRef>
              <c:f>Sheet1!$A$2:$A$4</c:f>
              <c:strCache>
                <c:ptCount val="3"/>
                <c:pt idx="0">
                  <c:v>April</c:v>
                </c:pt>
                <c:pt idx="1">
                  <c:v>May</c:v>
                </c:pt>
                <c:pt idx="2">
                  <c:v>June</c:v>
                </c:pt>
              </c:strCache>
            </c:strRef>
          </c:cat>
          <c:val>
            <c:numRef>
              <c:f>Sheet1!$B$2:$B$4</c:f>
              <c:numCache>
                <c:formatCode>General</c:formatCode>
                <c:ptCount val="3"/>
                <c:pt idx="0">
                  <c:v>12600</c:v>
                </c:pt>
                <c:pt idx="1">
                  <c:v>14940</c:v>
                </c:pt>
                <c:pt idx="2">
                  <c:v>16740</c:v>
                </c:pt>
              </c:numCache>
            </c:numRef>
          </c:val>
        </c:ser>
        <c:ser>
          <c:idx val="1"/>
          <c:order val="1"/>
          <c:tx>
            <c:strRef>
              <c:f>Sheet1!$C$1</c:f>
              <c:strCache>
                <c:ptCount val="1"/>
                <c:pt idx="0">
                  <c:v>Input tax</c:v>
                </c:pt>
              </c:strCache>
            </c:strRef>
          </c:tx>
          <c:spPr>
            <a:solidFill>
              <a:srgbClr val="008E8E"/>
            </a:solidFill>
          </c:spPr>
          <c:cat>
            <c:strRef>
              <c:f>Sheet1!$A$2:$A$4</c:f>
              <c:strCache>
                <c:ptCount val="3"/>
                <c:pt idx="0">
                  <c:v>April</c:v>
                </c:pt>
                <c:pt idx="1">
                  <c:v>May</c:v>
                </c:pt>
                <c:pt idx="2">
                  <c:v>June</c:v>
                </c:pt>
              </c:strCache>
            </c:strRef>
          </c:cat>
          <c:val>
            <c:numRef>
              <c:f>Sheet1!$C$2:$C$4</c:f>
              <c:numCache>
                <c:formatCode>General</c:formatCode>
                <c:ptCount val="3"/>
                <c:pt idx="0">
                  <c:v>8120</c:v>
                </c:pt>
                <c:pt idx="1">
                  <c:v>9450</c:v>
                </c:pt>
                <c:pt idx="2">
                  <c:v>10280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DFE6ED"/>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18989-Advanced-Transactional-Accounting-with-Quickbooks-Onlin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5166360" y="0"/>
            <a:ext cx="7022592" cy="6858000"/>
          </a:xfrm>
          <a:prstGeom prst="rect">
            <a:avLst/>
          </a:prstGeom>
        </p:spPr>
      </p:pic>
      <p:sp>
        <p:nvSpPr>
          <p:cNvPr id="4" name="Rectangle 3"/>
          <p:cNvSpPr/>
          <p:nvPr/>
        </p:nvSpPr>
        <p:spPr>
          <a:xfrm>
            <a:off x="4754880" y="0"/>
            <a:ext cx="155448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645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438912"/>
            <a:ext cx="1325880" cy="1325880"/>
          </a:xfrm>
          <a:prstGeom prst="rect">
            <a:avLst/>
          </a:prstGeom>
        </p:spPr>
      </p:pic>
      <p:sp>
        <p:nvSpPr>
          <p:cNvPr id="8" name="TextBox 7"/>
          <p:cNvSpPr txBox="1"/>
          <p:nvPr/>
        </p:nvSpPr>
        <p:spPr>
          <a:xfrm>
            <a:off x="713232" y="1536192"/>
            <a:ext cx="448056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WSQ COURSE SLIDES</a:t>
            </a:r>
          </a:p>
        </p:txBody>
      </p:sp>
      <p:sp>
        <p:nvSpPr>
          <p:cNvPr id="9" name="TextBox 8"/>
          <p:cNvSpPr txBox="1"/>
          <p:nvPr/>
        </p:nvSpPr>
        <p:spPr>
          <a:xfrm>
            <a:off x="713232" y="1901952"/>
            <a:ext cx="4572000" cy="2011680"/>
          </a:xfrm>
          <a:prstGeom prst="rect">
            <a:avLst/>
          </a:prstGeom>
          <a:noFill/>
        </p:spPr>
        <p:txBody>
          <a:bodyPr wrap="square" anchor="ctr" lIns="54864" rIns="54864" tIns="54864" bIns="54864">
            <a:spAutoFit/>
          </a:bodyPr>
          <a:lstStyle/>
          <a:p>
            <a:pPr algn="l">
              <a:spcAft>
                <a:spcPts val="400"/>
              </a:spcAft>
            </a:pPr>
            <a:r>
              <a:rPr sz="3100" b="1">
                <a:solidFill>
                  <a:srgbClr val="17242B"/>
                </a:solidFill>
                <a:latin typeface="Arial"/>
              </a:rPr>
              <a:t>Advanced Transactional Accounting with QuickBooks Online</a:t>
            </a:r>
          </a:p>
        </p:txBody>
      </p:sp>
      <p:sp>
        <p:nvSpPr>
          <p:cNvPr id="10" name="Rectangle 9"/>
          <p:cNvSpPr/>
          <p:nvPr/>
        </p:nvSpPr>
        <p:spPr>
          <a:xfrm>
            <a:off x="731520" y="4069080"/>
            <a:ext cx="17373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15968"/>
            <a:ext cx="4480560" cy="1143000"/>
          </a:xfrm>
          <a:prstGeom prst="rect">
            <a:avLst/>
          </a:prstGeom>
          <a:noFill/>
        </p:spPr>
        <p:txBody>
          <a:bodyPr wrap="square" anchor="t" lIns="54864" rIns="54864" tIns="54864" bIns="54864">
            <a:spAutoFit/>
          </a:bodyPr>
          <a:lstStyle/>
          <a:p>
            <a:pPr algn="l">
              <a:spcAft>
                <a:spcPts val="400"/>
              </a:spcAft>
            </a:pPr>
            <a:r>
              <a:rPr sz="1400" b="1">
                <a:solidFill>
                  <a:srgbClr val="5B6573"/>
                </a:solidFill>
                <a:latin typeface="Arial"/>
              </a:rPr>
              <a:t>Course Code: TGS-2023018989</a:t>
            </a:r>
          </a:p>
          <a:p>
            <a:pPr algn="l">
              <a:spcAft>
                <a:spcPts val="400"/>
              </a:spcAft>
            </a:pPr>
            <a:r>
              <a:rPr sz="1200" b="0">
                <a:solidFill>
                  <a:srgbClr val="5B6573"/>
                </a:solidFill>
                <a:latin typeface="Arial"/>
              </a:rPr>
              <a:t>TSC: ACC-CRP-4009-1.1</a:t>
            </a:r>
          </a:p>
          <a:p>
            <a:pPr algn="l">
              <a:spcAft>
                <a:spcPts val="400"/>
              </a:spcAft>
            </a:pPr>
            <a:r>
              <a:rPr sz="1100" b="0">
                <a:solidFill>
                  <a:srgbClr val="5B6573"/>
                </a:solidFill>
                <a:latin typeface="Arial"/>
              </a:rPr>
              <a:t>Tertiary Infotech Academy Pte Ltd · UEN 201200696W</a:t>
            </a:r>
          </a:p>
        </p:txBody>
      </p:sp>
      <p:sp>
        <p:nvSpPr>
          <p:cNvPr id="12" name="TextBox 11"/>
          <p:cNvSpPr txBox="1"/>
          <p:nvPr/>
        </p:nvSpPr>
        <p:spPr>
          <a:xfrm>
            <a:off x="713232" y="5806440"/>
            <a:ext cx="4480560" cy="411480"/>
          </a:xfrm>
          <a:prstGeom prst="rect">
            <a:avLst/>
          </a:prstGeom>
          <a:noFill/>
        </p:spPr>
        <p:txBody>
          <a:bodyPr wrap="square" anchor="t" lIns="54864" rIns="54864" tIns="54864" bIns="54864">
            <a:spAutoFit/>
          </a:bodyPr>
          <a:lstStyle/>
          <a:p>
            <a:pPr algn="l">
              <a:spcAft>
                <a:spcPts val="400"/>
              </a:spcAft>
            </a:pPr>
            <a:r>
              <a:rPr sz="1100" b="0">
                <a:solidFill>
                  <a:srgbClr val="5B6573"/>
                </a:solidFill>
                <a:latin typeface="Arial"/>
              </a:rPr>
              <a:t>Version v11.0 · 16 August 2026</a:t>
            </a:r>
          </a:p>
        </p:txBody>
      </p:sp>
      <p:sp>
        <p:nvSpPr>
          <p:cNvPr id="13" name="TextBox 12"/>
          <p:cNvSpPr txBox="1"/>
          <p:nvPr/>
        </p:nvSpPr>
        <p:spPr>
          <a:xfrm>
            <a:off x="713232" y="6245352"/>
            <a:ext cx="4480560" cy="228600"/>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 Tertiary Infotech Academy Pte Ltd</a:t>
            </a:r>
          </a:p>
        </p:txBody>
      </p:sp>
    </p:spTree>
  </p:cSld>
  <p:transition spd="slow">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MANDATORY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TRAQOM / SSG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 attendance</a:t>
            </a:r>
          </a:p>
          <a:p>
            <a:pPr algn="l">
              <a:spcAft>
                <a:spcPts val="400"/>
              </a:spcAft>
            </a:pPr>
            <a:r>
              <a:rPr sz="1250" b="0">
                <a:solidFill>
                  <a:srgbClr val="5B6573"/>
                </a:solidFill>
                <a:latin typeface="Arial"/>
              </a:rPr>
              <a:t>Scan and submit when the trainer displays the SSG QR code.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 attendance</a:t>
            </a:r>
          </a:p>
          <a:p>
            <a:pPr algn="l">
              <a:spcAft>
                <a:spcPts val="400"/>
              </a:spcAft>
            </a:pPr>
            <a:r>
              <a:rPr sz="1250" b="0">
                <a:solidFill>
                  <a:srgbClr val="5B6573"/>
                </a:solidFill>
                <a:latin typeface="Arial"/>
              </a:rPr>
              <a:t>Repeat after lunch as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 attendance</a:t>
            </a:r>
          </a:p>
          <a:p>
            <a:pPr algn="l">
              <a:spcAft>
                <a:spcPts val="400"/>
              </a:spcAft>
            </a:pPr>
            <a:r>
              <a:rPr sz="1250" b="0">
                <a:solidFill>
                  <a:srgbClr val="5B6573"/>
                </a:solidFill>
                <a:latin typeface="Arial"/>
              </a:rPr>
              <a:t>Complete the assessment digital-attendance step before sitting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a:t>
            </a:r>
          </a:p>
          <a:p>
            <a:pPr algn="l">
              <a:spcAft>
                <a:spcPts val="400"/>
              </a:spcAft>
            </a:pPr>
            <a:r>
              <a:rPr sz="1250" b="0">
                <a:solidFill>
                  <a:srgbClr val="5B6573"/>
                </a:solidFill>
                <a:latin typeface="Arial"/>
              </a:rPr>
              <a:t>Use Singpass/mobile flow and confirm successful submission; TRAQOM is attendance, not a survey.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a:t>
            </a:r>
          </a:p>
        </p:txBody>
      </p:sp>
    </p:spTree>
  </p:cSld>
  <p:transition spd="slow">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94A3B8"/>
                </a:solidFill>
                <a:latin typeface="Arial"/>
              </a:rPr>
              <a:t>GENERAL TRAINER TEMPLATE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General Trainer</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Complete before class</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Name: ______________________________</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Title / designation: ______________________________</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Qualifications: ______________________________</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Areas of expertise: ______________________________</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Training &amp; industry experience: ______________________________</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______________________________</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a:t>
            </a:r>
          </a:p>
        </p:txBody>
      </p:sp>
    </p:spTree>
  </p:cSld>
  <p:transition spd="slow">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NAMED TRAINER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About the Trainer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00400" cy="4315968"/>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00784" y="2148840"/>
            <a:ext cx="1234440" cy="123444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0784" y="2267712"/>
            <a:ext cx="1234440" cy="804672"/>
          </a:xfrm>
          <a:prstGeom prst="rect">
            <a:avLst/>
          </a:prstGeom>
          <a:noFill/>
        </p:spPr>
        <p:txBody>
          <a:bodyPr wrap="square" anchor="ctr" lIns="54864" rIns="54864" tIns="54864" bIns="54864">
            <a:spAutoFit/>
          </a:bodyPr>
          <a:lstStyle/>
          <a:p>
            <a:pPr algn="ctr">
              <a:spcAft>
                <a:spcPts val="400"/>
              </a:spcAft>
            </a:pPr>
            <a:r>
              <a:rPr sz="3700" b="1">
                <a:solidFill>
                  <a:srgbClr val="FFFFFF"/>
                </a:solidFill>
                <a:latin typeface="Arial"/>
              </a:rPr>
              <a:t>AA</a:t>
            </a:r>
          </a:p>
        </p:txBody>
      </p:sp>
      <p:sp>
        <p:nvSpPr>
          <p:cNvPr id="10" name="TextBox 9"/>
          <p:cNvSpPr txBox="1"/>
          <p:nvPr/>
        </p:nvSpPr>
        <p:spPr>
          <a:xfrm>
            <a:off x="914400" y="3712463"/>
            <a:ext cx="2788920" cy="548640"/>
          </a:xfrm>
          <a:prstGeom prst="rect">
            <a:avLst/>
          </a:prstGeom>
          <a:noFill/>
        </p:spPr>
        <p:txBody>
          <a:bodyPr wrap="square" anchor="t" lIns="54864" rIns="54864" tIns="54864" bIns="54864">
            <a:spAutoFit/>
          </a:bodyPr>
          <a:lstStyle/>
          <a:p>
            <a:pPr algn="ctr">
              <a:spcAft>
                <a:spcPts val="400"/>
              </a:spcAft>
            </a:pPr>
            <a:r>
              <a:rPr sz="2000" b="1">
                <a:solidFill>
                  <a:srgbClr val="17242B"/>
                </a:solidFill>
                <a:latin typeface="Arial"/>
              </a:rPr>
              <a:t>Dr Alfred Ang</a:t>
            </a:r>
          </a:p>
        </p:txBody>
      </p:sp>
      <p:sp>
        <p:nvSpPr>
          <p:cNvPr id="11" name="TextBox 10"/>
          <p:cNvSpPr txBox="1"/>
          <p:nvPr/>
        </p:nvSpPr>
        <p:spPr>
          <a:xfrm>
            <a:off x="914400" y="4370832"/>
            <a:ext cx="2788920" cy="749808"/>
          </a:xfrm>
          <a:prstGeom prst="rect">
            <a:avLst/>
          </a:prstGeom>
          <a:noFill/>
        </p:spPr>
        <p:txBody>
          <a:bodyPr wrap="square" anchor="t" lIns="54864" rIns="54864" tIns="54864" bIns="54864">
            <a:spAutoFit/>
          </a:bodyPr>
          <a:lstStyle/>
          <a:p>
            <a:pPr algn="ctr">
              <a:spcAft>
                <a:spcPts val="400"/>
              </a:spcAft>
            </a:pPr>
            <a:r>
              <a:rPr sz="1250" b="0">
                <a:solidFill>
                  <a:srgbClr val="5B6573"/>
                </a:solidFill>
                <a:latin typeface="Arial"/>
              </a:rPr>
              <a:t>Principal Trainer · Tertiary Infotech Academy</a:t>
            </a:r>
          </a:p>
        </p:txBody>
      </p:sp>
      <p:sp>
        <p:nvSpPr>
          <p:cNvPr id="12" name="Rounded Rectangle 11"/>
          <p:cNvSpPr/>
          <p:nvPr/>
        </p:nvSpPr>
        <p:spPr>
          <a:xfrm>
            <a:off x="4297680" y="178308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783080"/>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8379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Role · Principal trainer and courseware lead</a:t>
            </a:r>
          </a:p>
        </p:txBody>
      </p:sp>
      <p:sp>
        <p:nvSpPr>
          <p:cNvPr id="15" name="Rounded Rectangle 14"/>
          <p:cNvSpPr/>
          <p:nvPr/>
        </p:nvSpPr>
        <p:spPr>
          <a:xfrm>
            <a:off x="4297680" y="251460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514600"/>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256946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Certification · Adult education and technology credentials</a:t>
            </a:r>
          </a:p>
        </p:txBody>
      </p:sp>
      <p:sp>
        <p:nvSpPr>
          <p:cNvPr id="18" name="Rounded Rectangle 17"/>
          <p:cNvSpPr/>
          <p:nvPr/>
        </p:nvSpPr>
        <p:spPr>
          <a:xfrm>
            <a:off x="4297680" y="3246120"/>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46120"/>
            <a:ext cx="73152" cy="60350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00984"/>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Delivers · Accounting, automation, AI, data and digital productivity</a:t>
            </a:r>
          </a:p>
        </p:txBody>
      </p:sp>
      <p:sp>
        <p:nvSpPr>
          <p:cNvPr id="21" name="Rounded Rectangle 20"/>
          <p:cNvSpPr/>
          <p:nvPr/>
        </p:nvSpPr>
        <p:spPr>
          <a:xfrm>
            <a:off x="4297680" y="397763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977639"/>
            <a:ext cx="73152" cy="60350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403250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Founder · Tertiary Infotech Academy</a:t>
            </a:r>
          </a:p>
        </p:txBody>
      </p:sp>
      <p:sp>
        <p:nvSpPr>
          <p:cNvPr id="24" name="Rounded Rectangle 23"/>
          <p:cNvSpPr/>
          <p:nvPr/>
        </p:nvSpPr>
        <p:spPr>
          <a:xfrm>
            <a:off x="4297680" y="470915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709159"/>
            <a:ext cx="73152"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76402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Approach · Concept-led, evidence-based, hands-on</a:t>
            </a:r>
          </a:p>
        </p:txBody>
      </p:sp>
      <p:sp>
        <p:nvSpPr>
          <p:cNvPr id="27" name="Rounded Rectangle 26"/>
          <p:cNvSpPr/>
          <p:nvPr/>
        </p:nvSpPr>
        <p:spPr>
          <a:xfrm>
            <a:off x="4297680" y="5440679"/>
            <a:ext cx="7178040" cy="603504"/>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5440679"/>
            <a:ext cx="73152" cy="603504"/>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95543"/>
            <a:ext cx="6629400" cy="438912"/>
          </a:xfrm>
          <a:prstGeom prst="rect">
            <a:avLst/>
          </a:prstGeom>
          <a:noFill/>
        </p:spPr>
        <p:txBody>
          <a:bodyPr wrap="square" anchor="ctr" lIns="54864" rIns="54864" tIns="54864" bIns="54864">
            <a:spAutoFit/>
          </a:bodyPr>
          <a:lstStyle/>
          <a:p>
            <a:pPr algn="l">
              <a:spcAft>
                <a:spcPts val="400"/>
              </a:spcAft>
            </a:pPr>
            <a:r>
              <a:rPr sz="1250" b="0">
                <a:solidFill>
                  <a:srgbClr val="17242B"/>
                </a:solidFill>
                <a:latin typeface="Arial"/>
              </a:rPr>
              <a:t>Contact · enquiry@tertiaryinfotech.com</a:t>
            </a:r>
          </a:p>
        </p:txBody>
      </p:sp>
      <p:sp>
        <p:nvSpPr>
          <p:cNvPr id="30" name="TextBox 29"/>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1" name="TextBox 30"/>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2" name="TextBox 31"/>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a:t>
            </a:r>
          </a:p>
        </p:txBody>
      </p:sp>
    </p:spTree>
  </p:cSld>
  <p:transition spd="slow">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LEARNER INTRODUCTION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Let's Know Each Other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429768" cy="42976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1</a:t>
            </a:r>
          </a:p>
        </p:txBody>
      </p:sp>
      <p:sp>
        <p:nvSpPr>
          <p:cNvPr id="9" name="TextBox 8"/>
          <p:cNvSpPr txBox="1"/>
          <p:nvPr/>
        </p:nvSpPr>
        <p:spPr>
          <a:xfrm>
            <a:off x="1508760" y="1810512"/>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Name and role</a:t>
            </a:r>
          </a:p>
        </p:txBody>
      </p:sp>
      <p:sp>
        <p:nvSpPr>
          <p:cNvPr id="10" name="Oval 9"/>
          <p:cNvSpPr/>
          <p:nvPr/>
        </p:nvSpPr>
        <p:spPr>
          <a:xfrm>
            <a:off x="868680" y="2761488"/>
            <a:ext cx="429768" cy="429768"/>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79776"/>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2</a:t>
            </a:r>
          </a:p>
        </p:txBody>
      </p:sp>
      <p:sp>
        <p:nvSpPr>
          <p:cNvPr id="12" name="TextBox 11"/>
          <p:cNvSpPr txBox="1"/>
          <p:nvPr/>
        </p:nvSpPr>
        <p:spPr>
          <a:xfrm>
            <a:off x="1508760" y="2743200"/>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Accounting and QuickBooks experience</a:t>
            </a:r>
          </a:p>
        </p:txBody>
      </p:sp>
      <p:sp>
        <p:nvSpPr>
          <p:cNvPr id="13" name="Oval 12"/>
          <p:cNvSpPr/>
          <p:nvPr/>
        </p:nvSpPr>
        <p:spPr>
          <a:xfrm>
            <a:off x="868680" y="3694176"/>
            <a:ext cx="429768" cy="42976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12463"/>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3</a:t>
            </a:r>
          </a:p>
        </p:txBody>
      </p:sp>
      <p:sp>
        <p:nvSpPr>
          <p:cNvPr id="15" name="TextBox 14"/>
          <p:cNvSpPr txBox="1"/>
          <p:nvPr/>
        </p:nvSpPr>
        <p:spPr>
          <a:xfrm>
            <a:off x="1508760" y="3675888"/>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One advanced transaction or reporting challenge</a:t>
            </a:r>
          </a:p>
        </p:txBody>
      </p:sp>
      <p:sp>
        <p:nvSpPr>
          <p:cNvPr id="16" name="Oval 15"/>
          <p:cNvSpPr/>
          <p:nvPr/>
        </p:nvSpPr>
        <p:spPr>
          <a:xfrm>
            <a:off x="868680" y="4626864"/>
            <a:ext cx="429768" cy="42976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45152"/>
            <a:ext cx="429768" cy="365760"/>
          </a:xfrm>
          <a:prstGeom prst="rect">
            <a:avLst/>
          </a:prstGeom>
          <a:noFill/>
        </p:spPr>
        <p:txBody>
          <a:bodyPr wrap="square" anchor="ctr" lIns="54864" rIns="54864" tIns="54864" bIns="54864">
            <a:spAutoFit/>
          </a:bodyPr>
          <a:lstStyle/>
          <a:p>
            <a:pPr algn="ctr">
              <a:spcAft>
                <a:spcPts val="400"/>
              </a:spcAft>
            </a:pPr>
            <a:r>
              <a:rPr sz="1400" b="1">
                <a:solidFill>
                  <a:srgbClr val="FFFFFF"/>
                </a:solidFill>
                <a:latin typeface="Arial"/>
              </a:rPr>
              <a:t>4</a:t>
            </a:r>
          </a:p>
        </p:txBody>
      </p:sp>
      <p:sp>
        <p:nvSpPr>
          <p:cNvPr id="18" name="TextBox 17"/>
          <p:cNvSpPr txBox="1"/>
          <p:nvPr/>
        </p:nvSpPr>
        <p:spPr>
          <a:xfrm>
            <a:off x="1508760" y="4608576"/>
            <a:ext cx="9784080" cy="594360"/>
          </a:xfrm>
          <a:prstGeom prst="rect">
            <a:avLst/>
          </a:prstGeom>
          <a:noFill/>
        </p:spPr>
        <p:txBody>
          <a:bodyPr wrap="square" anchor="ctr" lIns="54864" rIns="54864" tIns="54864" bIns="54864">
            <a:spAutoFit/>
          </a:bodyPr>
          <a:lstStyle/>
          <a:p>
            <a:pPr algn="l">
              <a:spcAft>
                <a:spcPts val="400"/>
              </a:spcAft>
            </a:pPr>
            <a:r>
              <a:rPr sz="1700" b="0">
                <a:solidFill>
                  <a:srgbClr val="17242B"/>
                </a:solidFill>
                <a:latin typeface="Arial"/>
              </a:rPr>
              <a:t>What success looks like after two days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a:t>
            </a:r>
          </a:p>
        </p:txBody>
      </p:sp>
    </p:spTree>
  </p:cSld>
  <p:transition spd="slow">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LEARNING ENVIRONMENT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Ground Rules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Participate</a:t>
            </a:r>
          </a:p>
          <a:p>
            <a:pPr algn="l">
              <a:spcAft>
                <a:spcPts val="400"/>
              </a:spcAft>
            </a:pPr>
            <a:r>
              <a:rPr sz="1250" b="0">
                <a:solidFill>
                  <a:srgbClr val="5B6573"/>
                </a:solidFill>
                <a:latin typeface="Arial"/>
              </a:rPr>
              <a:t>Practise, question, and explain your accounting choices.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Protect data</a:t>
            </a:r>
          </a:p>
          <a:p>
            <a:pPr algn="l">
              <a:spcAft>
                <a:spcPts val="400"/>
              </a:spcAft>
            </a:pPr>
            <a:r>
              <a:rPr sz="1250" b="0">
                <a:solidFill>
                  <a:srgbClr val="5B6573"/>
                </a:solidFill>
                <a:latin typeface="Arial"/>
              </a:rPr>
              <a:t>Use only the fictional activity data—never real customer, payroll, tax, or bank credentials.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Evidence matters</a:t>
            </a:r>
          </a:p>
          <a:p>
            <a:pPr algn="l">
              <a:spcAft>
                <a:spcPts val="400"/>
              </a:spcAft>
            </a:pPr>
            <a:r>
              <a:rPr sz="1250" b="0">
                <a:solidFill>
                  <a:srgbClr val="5B6573"/>
                </a:solidFill>
                <a:latin typeface="Arial"/>
              </a:rPr>
              <a:t>Keep the workbook, report, screenshot/export, and approval trail together.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Return on time</a:t>
            </a:r>
          </a:p>
          <a:p>
            <a:pPr algn="l">
              <a:spcAft>
                <a:spcPts val="400"/>
              </a:spcAft>
            </a:pPr>
            <a:r>
              <a:rPr sz="1250" b="0">
                <a:solidFill>
                  <a:srgbClr val="5B6573"/>
                </a:solidFill>
                <a:latin typeface="Arial"/>
              </a:rPr>
              <a:t>Respect attendance, break, assessment, and submission times.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a:t>
            </a:r>
          </a:p>
        </p:txBody>
      </p:sp>
    </p:spTree>
  </p:cSld>
  <p:transitio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TRANSACTIONAL ACCOUNTING · ACC-CRP-4009-1.1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Skills Framework Alignment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K1</a:t>
            </a:r>
          </a:p>
          <a:p>
            <a:pPr algn="l">
              <a:spcAft>
                <a:spcPts val="400"/>
              </a:spcAft>
            </a:pPr>
            <a:r>
              <a:rPr sz="1250" b="0">
                <a:solidFill>
                  <a:srgbClr val="5B6573"/>
                </a:solidFill>
                <a:latin typeface="Arial"/>
              </a:rPr>
              <a:t>Double-entry accounting</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K2</a:t>
            </a:r>
          </a:p>
          <a:p>
            <a:pPr algn="l">
              <a:spcAft>
                <a:spcPts val="400"/>
              </a:spcAft>
            </a:pPr>
            <a:r>
              <a:rPr sz="1250" b="0">
                <a:solidFill>
                  <a:srgbClr val="5B6573"/>
                </a:solidFill>
                <a:latin typeface="Arial"/>
              </a:rPr>
              <a:t>Organisation's financial reporting framework</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K3</a:t>
            </a:r>
          </a:p>
          <a:p>
            <a:pPr algn="l">
              <a:spcAft>
                <a:spcPts val="400"/>
              </a:spcAft>
            </a:pPr>
            <a:r>
              <a:rPr sz="1250" b="0">
                <a:solidFill>
                  <a:srgbClr val="5B6573"/>
                </a:solidFill>
                <a:latin typeface="Arial"/>
              </a:rPr>
              <a:t>Accounting standards and requirements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A1–A4</a:t>
            </a:r>
          </a:p>
          <a:p>
            <a:pPr algn="l">
              <a:spcAft>
                <a:spcPts val="400"/>
              </a:spcAft>
            </a:pPr>
            <a:r>
              <a:rPr sz="1250" b="0">
                <a:solidFill>
                  <a:srgbClr val="5B6573"/>
                </a:solidFill>
                <a:latin typeface="Arial"/>
              </a:rPr>
              <a:t>Treat transactions, produce statements, analyse data, and assess reporting-standard impacts.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a:t>
            </a:r>
          </a:p>
        </p:txBody>
      </p:sp>
    </p:spTree>
  </p:cSld>
  <p:transitio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BY THE END OF THE COURSE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Learning Outcomes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43434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3698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LO1</a:t>
            </a:r>
          </a:p>
          <a:p>
            <a:pPr algn="l">
              <a:spcAft>
                <a:spcPts val="400"/>
              </a:spcAft>
            </a:pPr>
            <a:r>
              <a:rPr sz="1250" b="0">
                <a:solidFill>
                  <a:srgbClr val="5B6573"/>
                </a:solidFill>
                <a:latin typeface="Arial"/>
              </a:rPr>
              <a:t>Perform advanced transactional accounting and double-entry accounting in a controlled QuickBooks Online workflow.</a:t>
            </a:r>
          </a:p>
        </p:txBody>
      </p:sp>
      <p:sp>
        <p:nvSpPr>
          <p:cNvPr id="12" name="Rounded Rectangle 11"/>
          <p:cNvSpPr/>
          <p:nvPr/>
        </p:nvSpPr>
        <p:spPr>
          <a:xfrm>
            <a:off x="4395216"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5216" y="1783080"/>
            <a:ext cx="73152" cy="43434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4672" y="3698748"/>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4672"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27904"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LO2</a:t>
            </a:r>
          </a:p>
          <a:p>
            <a:pPr algn="l">
              <a:spcAft>
                <a:spcPts val="400"/>
              </a:spcAft>
            </a:pPr>
            <a:r>
              <a:rPr sz="1250" b="0">
                <a:solidFill>
                  <a:srgbClr val="5B6573"/>
                </a:solidFill>
                <a:latin typeface="Arial"/>
              </a:rPr>
              <a:t>Produce accurate financial statements, supporting schedules, and management reports from validated accounting data.</a:t>
            </a:r>
          </a:p>
        </p:txBody>
      </p:sp>
      <p:sp>
        <p:nvSpPr>
          <p:cNvPr id="17" name="Rounded Rectangle 16"/>
          <p:cNvSpPr/>
          <p:nvPr/>
        </p:nvSpPr>
        <p:spPr>
          <a:xfrm>
            <a:off x="8077200" y="1783080"/>
            <a:ext cx="3425952" cy="4343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83080"/>
            <a:ext cx="73152" cy="4343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96656" y="3698748"/>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6656" y="3707892"/>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9009888" y="1874520"/>
            <a:ext cx="2282952" cy="4197096"/>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LO3</a:t>
            </a:r>
          </a:p>
          <a:p>
            <a:pPr algn="l">
              <a:spcAft>
                <a:spcPts val="400"/>
              </a:spcAft>
            </a:pPr>
            <a:r>
              <a:rPr sz="1250" b="0">
                <a:solidFill>
                  <a:srgbClr val="5B6573"/>
                </a:solidFill>
                <a:latin typeface="Arial"/>
              </a:rPr>
              <a:t>Determine and communicate how reporting standards and accounting judgements affect financial information.</a:t>
            </a:r>
          </a:p>
        </p:txBody>
      </p:sp>
      <p:sp>
        <p:nvSpPr>
          <p:cNvPr id="22" name="TextBox 2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3" name="TextBox 2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4" name="TextBox 2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a:t>
            </a:r>
          </a:p>
        </p:txBody>
      </p:sp>
    </p:spTree>
  </p:cSld>
  <p:transitio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TWO-DAY LEARNING ARC</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 Outline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01 · Transactions</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Advanced AR/AP, inventory, projects, bank rules, reconciliation, adjustments, close, roles, and audit trail.</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02 · Reporting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Statements, subledgers, custom reports, ageing, profitability, cash flow, GST, and management action.</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03 · Standards</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 reporting framework, accrual, revenue, inventory, PPE, FX, estimates, and qualitative characteristics.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a:t>
            </a:r>
          </a:p>
        </p:txBody>
      </p:sp>
    </p:spTree>
  </p:cSld>
  <p:transitio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1</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Admin, prerequisite bridge, control-ready company file, double-entry decision model</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Advanced order-to-cash, procure-to-pay, recurring transactions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Inventory, projects, billable time and costs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15:40–18:00</a:t>
            </a:r>
          </a:p>
          <a:p>
            <a:pPr algn="l">
              <a:spcAft>
                <a:spcPts val="400"/>
              </a:spcAft>
            </a:pPr>
            <a:r>
              <a:rPr sz="1250" b="0">
                <a:solidFill>
                  <a:srgbClr val="5B6573"/>
                </a:solidFill>
                <a:latin typeface="Arial"/>
              </a:rPr>
              <a:t>Bank rules, reconciliation, month-end adjustments, close and audit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a:t>
            </a:r>
          </a:p>
        </p:txBody>
      </p:sp>
    </p:spTree>
  </p:cSld>
  <p:transition spd="slow">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9:00 AM–6:00 PM · 8 HOURS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Lesson Plan · Day 2</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09:00–10:30</a:t>
            </a:r>
          </a:p>
          <a:p>
            <a:pPr algn="l">
              <a:spcAft>
                <a:spcPts val="400"/>
              </a:spcAft>
            </a:pPr>
            <a:r>
              <a:rPr sz="1250" b="0">
                <a:solidFill>
                  <a:srgbClr val="5B6573"/>
                </a:solidFill>
                <a:latin typeface="Arial"/>
              </a:rPr>
              <a:t>Statement architecture, subledger ties, report dimensions and custom reports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10:40–13:00</a:t>
            </a:r>
          </a:p>
          <a:p>
            <a:pPr algn="l">
              <a:spcAft>
                <a:spcPts val="400"/>
              </a:spcAft>
            </a:pPr>
            <a:r>
              <a:rPr sz="1250" b="0">
                <a:solidFill>
                  <a:srgbClr val="5B6573"/>
                </a:solidFill>
                <a:latin typeface="Arial"/>
              </a:rPr>
              <a:t>Ageing, profitability, cash flow, GST, management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14:00–15:30</a:t>
            </a:r>
          </a:p>
          <a:p>
            <a:pPr algn="l">
              <a:spcAft>
                <a:spcPts val="400"/>
              </a:spcAft>
            </a:pPr>
            <a:r>
              <a:rPr sz="1250" b="0">
                <a:solidFill>
                  <a:srgbClr val="5B6573"/>
                </a:solidFill>
                <a:latin typeface="Arial"/>
              </a:rPr>
              <a:t>Singapore framework, recognition/measurement, qualitative characteristics, capstone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16:00–18:00</a:t>
            </a:r>
          </a:p>
          <a:p>
            <a:pPr algn="l">
              <a:spcAft>
                <a:spcPts val="400"/>
              </a:spcAft>
            </a:pPr>
            <a:r>
              <a:rPr sz="1250" b="0">
                <a:solidFill>
                  <a:srgbClr val="5B6573"/>
                </a:solidFill>
                <a:latin typeface="Arial"/>
              </a:rPr>
              <a:t>Final assessment: WA 1 hour, then PP 1 hour · open book</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a:t>
            </a:r>
          </a:p>
        </p:txBody>
      </p:sp>
    </p:spTree>
  </p:cSld>
  <p:transition spd="slow">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BEFORE THE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Briefing for Assessment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Individual</a:t>
            </a:r>
          </a:p>
          <a:p>
            <a:pPr algn="l">
              <a:spcAft>
                <a:spcPts val="400"/>
              </a:spcAft>
            </a:pPr>
            <a:r>
              <a:rPr sz="1250" b="0">
                <a:solidFill>
                  <a:srgbClr val="5B6573"/>
                </a:solidFill>
                <a:latin typeface="Arial"/>
              </a:rPr>
              <a:t>No discussion, photos, or recording of assessment scripts.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Open book</a:t>
            </a:r>
          </a:p>
          <a:p>
            <a:pPr algn="l">
              <a:spcAft>
                <a:spcPts val="400"/>
              </a:spcAft>
            </a:pPr>
            <a:r>
              <a:rPr sz="1250" b="0">
                <a:solidFill>
                  <a:srgbClr val="5B6573"/>
                </a:solidFill>
                <a:latin typeface="Arial"/>
              </a:rPr>
              <a:t>Slides, Learner Guide, activity files, and approved material only; phones and other material under the table.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Time</a:t>
            </a:r>
          </a:p>
          <a:p>
            <a:pPr algn="l">
              <a:spcAft>
                <a:spcPts val="400"/>
              </a:spcAft>
            </a:pPr>
            <a:r>
              <a:rPr sz="1250" b="0">
                <a:solidFill>
                  <a:srgbClr val="5B6573"/>
                </a:solidFill>
                <a:latin typeface="Arial"/>
              </a:rPr>
              <a:t>Written Assessment 1 hour, then Practical Performance 1 hour.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Submit</a:t>
            </a:r>
          </a:p>
          <a:p>
            <a:pPr algn="l">
              <a:spcAft>
                <a:spcPts val="400"/>
              </a:spcAft>
            </a:pPr>
            <a:r>
              <a:rPr sz="1250" b="0">
                <a:solidFill>
                  <a:srgbClr val="5B6573"/>
                </a:solidFill>
                <a:latin typeface="Arial"/>
              </a:rPr>
              <a:t>Use the provided documents, submit on the LMS, receive outcome and appeal information, then sign the Assessment Summary Record.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a:t>
            </a:r>
          </a:p>
        </p:txBody>
      </p:sp>
    </p:spTree>
  </p:cSld>
  <p:transition spd="slow">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and Funding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short-answer questions covering K1, K2, and K3.</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covering A1–A4 and aligned to Activities 2, 7, 8, 10, and 12.</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Eligibility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At least 75% attendance and Competent outcome are required for applicable WSQ funding and achievement.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a:t>
            </a:r>
          </a:p>
        </p:txBody>
      </p:sp>
    </p:spTree>
  </p:cSld>
  <p:transition spd="slow">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14</a:t>
            </a:r>
          </a:p>
        </p:txBody>
      </p:sp>
    </p:spTree>
  </p:cSld>
  <p:transition spd="slow">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 · CURRENT VERSION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Download Course Material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in to the LMS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Open this course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Choose Courseware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Download the current files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15</a:t>
            </a:r>
          </a:p>
        </p:txBody>
      </p:sp>
      <p:sp>
        <p:nvSpPr>
          <p:cNvPr id="29" name="TextBox 28"/>
          <p:cNvSpPr txBox="1"/>
          <p:nvPr/>
        </p:nvSpPr>
        <p:spPr>
          <a:xfrm>
            <a:off x="822960" y="5897880"/>
            <a:ext cx="10607040" cy="384048"/>
          </a:xfrm>
          <a:prstGeom prst="rect">
            <a:avLst/>
          </a:prstGeom>
          <a:noFill/>
        </p:spPr>
        <p:txBody>
          <a:bodyPr wrap="none">
            <a:spAutoFit/>
          </a:bodyPr>
          <a:lstStyle/>
          <a:p>
            <a:pPr algn="ctr"/>
            <a:r>
              <a:rPr sz="1200">
                <a:solidFill>
                  <a:srgbClr val="1F6FEB"/>
                </a:solidFill>
                <a:latin typeface="Arial"/>
                <a:hlinkClick r:id="rId2"/>
              </a:rPr>
              <a:t>https://lms-tms.tertiaryinfotech.com/</a:t>
            </a:r>
          </a:p>
        </p:txBody>
      </p:sp>
    </p:spTree>
  </p:cSld>
  <p:transition spd="slow">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OPTIONAL KNOWLEDGE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Practice Exam · QuickBooks Accounting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FIND</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practice-exam portal and search QuickBooks or the course code.</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PRACTISE</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Practice Mode to explain the accounting logic, report effect, control, and evidence.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REVIEW</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Record weak areas in the activity workbook and revisit the matching topic before assessment.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16</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100">
                <a:solidFill>
                  <a:srgbClr val="1F6FEB"/>
                </a:solidFill>
                <a:latin typeface="Arial"/>
                <a:hlinkClick r:id="rId2"/>
              </a:rPr>
              <a:t>https://exams.tertiaryinfotech.com/practice-exams</a:t>
            </a:r>
          </a:p>
        </p:txBody>
      </p:sp>
    </p:spTree>
  </p:cSld>
  <p:transition spd="slow">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CLICKABLE REPOSITORY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Access the Course Activities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OPTION A · CLONE</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git clone https://github.com/tertiarycourses/TGS-2023018989-Advanced-Transactional-Accounting-with-Quickbooks-Online.git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OPTION B · ZIP</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GitHub repository, choose Code, then Download ZIP.</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WORK SAFELY</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the fictional datasets and a QuickBooks Online practice company. Keep confidential data out of the repository.</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17</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100">
                <a:solidFill>
                  <a:srgbClr val="1F6FEB"/>
                </a:solidFill>
                <a:latin typeface="Arial"/>
                <a:hlinkClick r:id="rId2"/>
              </a:rPr>
              <a:t>https://github.com/tertiarycourses/TGS-2023018989-Advanced-Transactional-Accounting-with-Quickbooks-Online</a:t>
            </a:r>
          </a:p>
        </p:txBody>
      </p:sp>
    </p:spTree>
  </p:cSld>
  <p:transition spd="slow">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 K1 · A1</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Advanced Transactional Accounting</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Control-ready masters · complex AR/AP · inventory · projects · bank feeds · month-end close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18</a:t>
            </a:r>
          </a:p>
        </p:txBody>
      </p:sp>
    </p:spTree>
  </p:cSld>
  <p:transition spd="slow">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TOPIC 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Control before speed</a:t>
            </a:r>
          </a:p>
          <a:p>
            <a:pPr algn="l">
              <a:spcAft>
                <a:spcPts val="400"/>
              </a:spcAft>
            </a:pPr>
            <a:r>
              <a:rPr sz="1250" b="0">
                <a:solidFill>
                  <a:srgbClr val="5B6573"/>
                </a:solidFill>
                <a:latin typeface="Arial"/>
              </a:rPr>
              <a:t>Automation scales both good coding and bad coding; design approval, evidence, and exception paths first.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Subledger discipline</a:t>
            </a:r>
          </a:p>
          <a:p>
            <a:pPr algn="l">
              <a:spcAft>
                <a:spcPts val="400"/>
              </a:spcAft>
            </a:pPr>
            <a:r>
              <a:rPr sz="1250" b="0">
                <a:solidFill>
                  <a:srgbClr val="5B6573"/>
                </a:solidFill>
                <a:latin typeface="Arial"/>
              </a:rPr>
              <a:t>Customer, supplier, inventory, project, bank, and tax subledgers must reconcile to the general ledger.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Event-to-entry reasoning</a:t>
            </a:r>
          </a:p>
          <a:p>
            <a:pPr algn="l">
              <a:spcAft>
                <a:spcPts val="400"/>
              </a:spcAft>
            </a:pPr>
            <a:r>
              <a:rPr sz="1250" b="0">
                <a:solidFill>
                  <a:srgbClr val="5B6573"/>
                </a:solidFill>
                <a:latin typeface="Arial"/>
              </a:rPr>
              <a:t>Identify the event, recognition point, accounts, debit/credit, tax treatment, and evidence before posting.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Period integrity</a:t>
            </a:r>
          </a:p>
          <a:p>
            <a:pPr algn="l">
              <a:spcAft>
                <a:spcPts val="400"/>
              </a:spcAft>
            </a:pPr>
            <a:r>
              <a:rPr sz="1250" b="0">
                <a:solidFill>
                  <a:srgbClr val="5B6573"/>
                </a:solidFill>
                <a:latin typeface="Arial"/>
              </a:rPr>
              <a:t>Cut-off, accruals, prepayments, depreciation, FX, and reconciliations protect the reporting period.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19</a:t>
            </a:r>
          </a:p>
        </p:txBody>
      </p:sp>
    </p:spTree>
  </p:cSld>
  <p:transition spd="slow">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From basic bookkeeping to advanced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Basic course boundary: navigation, simple invoices, bills, receipts, and standard reports are assumed.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Advanced work adds estimates and judgements, linked documents, subledger controls, period-end entries,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correct screen entry is not enough: it must post to the right period, account, tax code, project, and counterparty.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Every workflow ends with a reconciliation or report-based acceptance test.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20</a:t>
            </a:r>
          </a:p>
        </p:txBody>
      </p:sp>
    </p:spTree>
  </p:cSld>
  <p:transition spd="slow">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PREREQUISITE BRIDGE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From basic bookkeeping to advanced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Basic course boundary: navigation, simple invoices, bills, receipts, and standard reports are assumed.</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Advanced work adds estimates and judgements, linked documents, subledger controls, period-end entries, and evidence.</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correct screen entry is not enough: it must post to the right period, account, tax code, project, and counterparty.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Every workflow ends with a reconciliation or report-based acceptance test.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21</a:t>
            </a:r>
          </a:p>
        </p:txBody>
      </p:sp>
    </p:spTree>
  </p:cSld>
  <p:transition spd="slow">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Design a numbered chart of accounts with control accounts, clearing accounts, and reporting-friendly subaccounts.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trade receivables/payables, GST input/output, inventory asset/COGS, fixed assets/accumulated depreciation, and suspense.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Govern customer, supplier, product/service, payment term, project, class/location, and custom-field masters.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Prevent duplicates through naming conventions, ownership, change approval, and periodic inactive-master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22</a:t>
            </a:r>
          </a:p>
        </p:txBody>
      </p:sp>
    </p:spTree>
  </p:cSld>
  <p:transition spd="slow">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MASTER DATA ARCHITECTURE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Control-ready company file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Design a numbered chart of accounts with control accounts, clearing accounts, and reporting-friendly subaccounts.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Separate trade receivables/payables, GST input/output, inventory asset/COGS, fixed assets/accumulated depreciation, and suspense.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Govern customer, supplier, product/service, payment term, project, class/location, and custom-field masters.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Prevent duplicates through naming conventions, ownership, change approval, and periodic inactive-master review.</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23</a:t>
            </a:r>
          </a:p>
        </p:txBody>
      </p:sp>
    </p:spTree>
  </p:cSld>
  <p:transition spd="slow">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Business event: what happened, with whom, for how much, and when did control/performance occur?</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Recognition: does the event create an asset, liability, income, expense, equity movement, or disclosure only?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Posting: select source document, accounts, debit/credit, GST code, project/segment, date, and supporting evidence.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Verification: inspect the audit trail, subledger, trial balance, and financial-statement effect.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24</a:t>
            </a:r>
          </a:p>
        </p:txBody>
      </p:sp>
    </p:spTree>
  </p:cSld>
  <p:transition spd="slow">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DOUBLE-ENTRY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Event-to-entry decision model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Business event: what happened, with whom, for how much, and when did control/performance occur?</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Recognition: does the event create an asset, liability, income, expense, equity movement, or disclosure only?</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Posting: select source document, accounts, debit/credit, GST code, project/segment, date, and supporting evidence. Verification: inspect the audit trail, subledger, trial balance, and financial-statement effect.</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25</a:t>
            </a:r>
          </a:p>
        </p:txBody>
      </p:sp>
    </p:spTree>
  </p:cSld>
  <p:transition spd="slow">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ACCOUNTING DECISION STAGE 1 OF 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Accounting Treatment Decision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9424"/>
            <a:ext cx="1234440" cy="1234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1234440" cy="822960"/>
          </a:xfrm>
          <a:prstGeom prst="rect">
            <a:avLst/>
          </a:prstGeom>
          <a:noFill/>
        </p:spPr>
        <p:txBody>
          <a:bodyPr wrap="square" anchor="ctr" lIns="54864" rIns="54864" tIns="54864" bIns="54864">
            <a:spAutoFit/>
          </a:bodyPr>
          <a:lstStyle/>
          <a:p>
            <a:pPr algn="ctr">
              <a:spcAft>
                <a:spcPts val="400"/>
              </a:spcAft>
            </a:pPr>
            <a:r>
              <a:rPr sz="3800" b="1">
                <a:solidFill>
                  <a:srgbClr val="FFFFFF"/>
                </a:solidFill>
                <a:latin typeface="Arial"/>
              </a:rPr>
              <a:t>1</a:t>
            </a:r>
          </a:p>
        </p:txBody>
      </p:sp>
      <p:sp>
        <p:nvSpPr>
          <p:cNvPr id="9" name="TextBox 8"/>
          <p:cNvSpPr txBox="1"/>
          <p:nvPr/>
        </p:nvSpPr>
        <p:spPr>
          <a:xfrm>
            <a:off x="2395728" y="2084831"/>
            <a:ext cx="8732520" cy="1508760"/>
          </a:xfrm>
          <a:prstGeom prst="rect">
            <a:avLst/>
          </a:prstGeom>
          <a:noFill/>
        </p:spPr>
        <p:txBody>
          <a:bodyPr wrap="square" anchor="ctr" lIns="54864" rIns="54864" tIns="54864" bIns="54864">
            <a:spAutoFit/>
          </a:bodyPr>
          <a:lstStyle/>
          <a:p>
            <a:pPr algn="l">
              <a:spcAft>
                <a:spcPts val="400"/>
              </a:spcAft>
            </a:pPr>
            <a:r>
              <a:rPr sz="2500" b="1">
                <a:solidFill>
                  <a:srgbClr val="17242B"/>
                </a:solidFill>
                <a:latin typeface="Arial"/>
              </a:rPr>
              <a:t>Identify the economic event and recognition point before choosing the QuickBooks form.</a:t>
            </a:r>
          </a:p>
        </p:txBody>
      </p:sp>
      <p:sp>
        <p:nvSpPr>
          <p:cNvPr id="10" name="Rounded Rectangle 9"/>
          <p:cNvSpPr/>
          <p:nvPr/>
        </p:nvSpPr>
        <p:spPr>
          <a:xfrm>
            <a:off x="2395728" y="3913632"/>
            <a:ext cx="8732520" cy="13716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0048" y="4160520"/>
            <a:ext cx="8138160" cy="777240"/>
          </a:xfrm>
          <a:prstGeom prst="rect">
            <a:avLst/>
          </a:prstGeom>
          <a:noFill/>
        </p:spPr>
        <p:txBody>
          <a:bodyPr wrap="square" anchor="ctr" lIns="54864" rIns="54864" tIns="54864" bIns="54864">
            <a:spAutoFit/>
          </a:bodyPr>
          <a:lstStyle/>
          <a:p>
            <a:pPr algn="l">
              <a:spcAft>
                <a:spcPts val="400"/>
              </a:spcAft>
            </a:pPr>
            <a:r>
              <a:rPr sz="1200" b="1">
                <a:solidFill>
                  <a:srgbClr val="008E8E"/>
                </a:solidFill>
                <a:latin typeface="Arial"/>
              </a:rPr>
              <a:t>EVIDENCE TEST · </a:t>
            </a:r>
            <a:r>
              <a:rPr sz="1500" b="0">
                <a:solidFill>
                  <a:srgbClr val="5B6573"/>
                </a:solidFill>
                <a:latin typeface="Arial"/>
              </a:rPr>
              <a:t>Contract, invoice, receipt, delivery, approval, and period evidence agree.</a:t>
            </a:r>
          </a:p>
        </p:txBody>
      </p:sp>
      <p:sp>
        <p:nvSpPr>
          <p:cNvPr id="12" name="TextBox 11"/>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3" name="TextBox 12"/>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4" name="TextBox 13"/>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26</a:t>
            </a:r>
          </a:p>
        </p:txBody>
      </p:sp>
    </p:spTree>
  </p:cSld>
  <p:transition spd="slow">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RECEIVABLE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estimate, deposit/advance, invoice or progress invoice, receipt, credit memo, refund, and write-off.</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Keep customer advances as liabilities until the performance obligation is satisfied; do not force early revenue.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Apply receipts to the correct open invoices and investigate unapplied cash and negative customer balances.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ageing, overdue reminders, statements, credit limits, and collection notes as one controlled cycle.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27</a:t>
            </a:r>
          </a:p>
        </p:txBody>
      </p:sp>
    </p:spTree>
  </p:cSld>
  <p:transition spd="slow">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ACCOUNTS RECEIVABLE</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Connect estimate, deposit/advance, invoice or progress invoice, receipt, credit memo, refund, and write-off.</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Keep customer advances as liabilities until the performance obligation is satisfied; do not force early revenue. Apply receipts to the correct open invoices and investigate unapplied cash and negative customer balances. Use ageing, overdue reminders, statements, credit limits, and collection notes as one controlled cycle.</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28</a:t>
            </a:r>
          </a:p>
        </p:txBody>
      </p:sp>
    </p:spTree>
  </p:cSld>
  <p:transition spd="slow">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order-to-cash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Connect estimate, deposit/advance, invoice or progress invoice, receipt, credit memo, refund, and write-off.</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Keep customer advances as liabilities until the performance obligation is satisfied; do not force early revenue.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Apply receipts to the correct open invoices and investigate unapplied cash and negative customer balances.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Use ageing, overdue reminders, statements, credit limits, and collection notes as one controlled cycle.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29</a:t>
            </a:r>
          </a:p>
        </p:txBody>
      </p:sp>
    </p:spTree>
  </p:cSld>
  <p:transition spd="slow">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Returns, credits, refunds, and bad debts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Credit memo reduces the customer's balance; refund receipt records cash returned—choose based on the commercial event.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Link the reversal to the original product/service and GST treatment to preserve revenue and tax reporting.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 write-off requires evidence of recoverability review and the approved bad-debt account/tax treatment.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Monitor unusual credits, backdated changes, duplicate refunds, and manual journals to receivables.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30</a:t>
            </a:r>
          </a:p>
        </p:txBody>
      </p:sp>
    </p:spTree>
  </p:cSld>
  <p:transition spd="slow">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EXCEPTION HANDLING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Returns, credits, refunds, and bad debts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Credit memo reduces the customer's balance; refund receipt records cash returned—choose based on the commercial event.</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Link the reversal to the original product/service and GST treatment to preserve revenue and tax reporting.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 write-off requires evidence of recoverability review and the approved bad-debt account/tax treatment.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Monitor unusual credits, backdated changes, duplicate refunds, and manual journals to receivables.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31</a:t>
            </a:r>
          </a:p>
        </p:txBody>
      </p:sp>
    </p:spTree>
  </p:cSld>
  <p:transition spd="slow">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Connect purchase request/approval, purchase order, receipt, supplier bill, bill credit, payment, and supplier statement.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purchase order is a commitment, not yet an expense or liability; recognition follows receipt and the applicable policy.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three-way thinking: order, receipt, and invoice should agree on item, quantity, price, tax, and project.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Separate vendor creation, invoice approval, and payment release; investigate duplicate invoice numbers and bank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32</a:t>
            </a:r>
          </a:p>
        </p:txBody>
      </p:sp>
    </p:spTree>
  </p:cSld>
  <p:transition spd="slow">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ACCOUNTS PAYABLE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Advanced procure-to-pay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Connect purchase request/approval, purchase order, receipt, supplier bill, bill credit, payment, and supplier statement.</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A purchase order is a commitment, not yet an expense or liability; recognition follows receipt and the applicable policy.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three-way thinking: order, receipt, and invoice should agree on item, quantity, price, tax, and project.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Separate vendor creation, invoice approval, and payment release; investigate duplicate invoice numbers and bank changes.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33</a:t>
            </a:r>
          </a:p>
        </p:txBody>
      </p:sp>
    </p:spTree>
  </p:cSld>
  <p:transition spd="slow">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Recurring transactions with governance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Scheduled templates post automatically; reminders require review; unscheduled templates standardise repeatable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recurring entries for predictable amounts only, or pair variable templates with an evidence-based review.</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Assign an owner, end date, review frequency, tax treatment, and exception rule to every template.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Audit the recurring-template list before close and after contract, rate, or GST changes.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34</a:t>
            </a:r>
          </a:p>
        </p:txBody>
      </p:sp>
    </p:spTree>
  </p:cSld>
  <p:transition spd="slow">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AUTOMATION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Recurring transactions with governance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Scheduled templates post automatically; reminders require review; unscheduled templates standardise repeatable entries.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recurring entries for predictable amounts only, or pair variable templates with an evidence-based review.</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Assign an owner, end date, review frequency, tax treatment, and exception rule to every template.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Audit the recurring-template list before close and after contract, rate, or GST changes.</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35</a:t>
            </a:r>
          </a:p>
        </p:txBody>
      </p:sp>
    </p:spTree>
  </p:cSld>
  <p:transition spd="slow">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Purchases increase inventory asset and quantity; sales reduce inventory and recognise cost of goods sold.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Reconcile quantity-on-hand, inventory valuation, general-ledger balance, and physical count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negative inventory, backdated purchases/sales, inactive items, unit-of-measure errors, and unusual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Adjustments need reason codes, approval, evidence, and an understood profit impact—not a plug to make reports agree.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36</a:t>
            </a:r>
          </a:p>
        </p:txBody>
      </p:sp>
    </p:spTree>
  </p:cSld>
  <p:transition spd="slow">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QUANTITY AND VALUE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Purchases increase inventory asset and quantity; sales reduce inventory and recognise cost of goods sold.</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Reconcile quantity-on-hand, inventory valuation, general-ledger balance, and physical count evidence.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Investigate negative inventory, backdated purchases/sales, inactive items, unit-of-measure errors, and unusual adjustments. Adjustments need reason codes, approval, evidence, and an understood profit impact—not a plug to make reports agree.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37</a:t>
            </a:r>
          </a:p>
        </p:txBody>
      </p:sp>
    </p:spTree>
  </p:cSld>
  <p:transition spd="slow">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and cost of sales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Purchases increase inventory asset and quantity; sales reduce inventory and recognise cost of goods sold.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Reconcile quantity-on-hand, inventory valuation, general-ledger balance, and physical count evidence.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negative inventory, backdated purchases/sales, inactive items, unit-of-measure errors, and unusual adjustments.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Adjustments need reason codes, approval, evidence, and an understood profit impact—not a plug to make reports agree.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38</a:t>
            </a:r>
          </a:p>
        </p:txBody>
      </p:sp>
    </p:spTree>
  </p:cSld>
  <p:transition spd="slow">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JOB PROFITABILITY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Projects, time, and billable costs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Assign revenue, supplier costs, expenses, time, and billable items to the correct customer project.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billable status from accounting classification: an expense can be valid but assigned to the wrong project.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Compare estimate, invoiced, earned, cost incurred, unbilled time/expense, and margin to expose leakage.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Close a project only after final billing, cost capture, write-off decisions, and profitability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39</a:t>
            </a:r>
          </a:p>
        </p:txBody>
      </p:sp>
    </p:spTree>
  </p:cSld>
  <p:transition spd="slow">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JOB PROFITABILITY</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Assign revenue, supplier costs, expenses, time, and billable items to the correct customer project.</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Separate billable status from accounting classification: an expense can be valid but assigned to the wrong project. Compare estimate, invoiced, earned, cost incurred, unbilled time/expense, and margin to expose leakage. Close a project only after final billing, cost capture, write-off decisions, and profitability review.</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40</a:t>
            </a:r>
          </a:p>
        </p:txBody>
      </p:sp>
    </p:spTree>
  </p:cSld>
  <p:transition spd="slow">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bank-feed line is external evidence, not automatically a new accounting transaction; match before add.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bank text, description, amount, account, payee, transaction type, category, tax, and project conditions deliberately.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Rule priority matters; broad rules can override precise rules and silently misclassify high volumes.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Enable auto-add only for stable, low-risk patterns with a periodic exception and sampling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41</a:t>
            </a:r>
          </a:p>
        </p:txBody>
      </p:sp>
    </p:spTree>
  </p:cSld>
  <p:transition spd="slow">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AUTOMATION WITH REVIEW</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Bank feeds and rule design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bank-feed line is external evidence, not automatically a new accounting transaction; match before add.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Use bank text, description, amount, account, payee, transaction type, category, tax, and project conditions deliberately.</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Rule priority matters; broad rules can override precise rules and silently misclassify high volumes.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Enable auto-add only for stable, low-risk patterns with a periodic exception and sampling review.</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42</a:t>
            </a:r>
          </a:p>
        </p:txBody>
      </p:sp>
    </p:spTree>
  </p:cSld>
  <p:transition spd="slow">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Reconciliation proves the ledger agrees to an independent statement at a point in time.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Opening balance, statement ending balance, cleared items, outstanding items, and difference form the control equation.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missing, duplicate, altered, stale, and future-dated items; never force a zero with an unexplained adjustment.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the reconciliation report and review changes to previously reconciled transactions in the audit log.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43</a:t>
            </a:r>
          </a:p>
        </p:txBody>
      </p:sp>
    </p:spTree>
  </p:cSld>
  <p:transition spd="slow">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BANK AND CREDIT CARD</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Reconciliation proves the ledger agrees to an independent statement at a point in time.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Opening balance, statement ending balance, cleared items, outstanding items, and difference form the control equation.</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Investigate missing, duplicate, altered, stale, and future-dated items; never force a zero with an unexplained adjustment.</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Preserve the reconciliation report and review changes to previously reconciled transactions in the audit log.</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44</a:t>
            </a:r>
          </a:p>
        </p:txBody>
      </p:sp>
    </p:spTree>
  </p:cSld>
  <p:transition spd="slow">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Reconciliation as a control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proves the ledger agrees to an independent statement at a point in time.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Opening balance, statement ending balance, cleared items, outstanding items, and difference form the control equation.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missing, duplicate, altered, stale, and future-dated items; never force a zero with an unexplained adjustment.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the reconciliation report and review changes to previously reconciled transactions in the audit log.</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45</a:t>
            </a:r>
          </a:p>
        </p:txBody>
      </p:sp>
    </p:spTree>
  </p:cSld>
  <p:transition spd="slow">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Accruals recognise incurred costs/revenue before invoice or cash; reverse when the source transaction arrives where appropriate.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Prepayments defer expense and release it systematically over the benefit period.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Depreciation allocates depreciable amount over useful life; accumulated depreciation preserves gross asset cost.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Foreign-currency monetary items may require period-end remeasurement and documented exchange-rate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46</a:t>
            </a:r>
          </a:p>
        </p:txBody>
      </p:sp>
    </p:spTree>
  </p:cSld>
  <p:transition spd="slow">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CUT-OFF AND ESTIMATES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Accruals recognise incurred costs/revenue before invoice or cash; reverse when the source transaction arrives where appropriate.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Prepayments defer expense and release it systematically over the benefit period.</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Depreciation allocates depreciable amount over useful life; accumulated depreciation preserves gross asset cost.</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Foreign-currency monetary items may require period-end remeasurement and documented exchange-rate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47</a:t>
            </a:r>
          </a:p>
        </p:txBody>
      </p:sp>
    </p:spTree>
  </p:cSld>
  <p:transition spd="slow">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Month-end adjusting entries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Accruals recognise incurred costs/revenue before invoice or cash; reverse when the source transaction arrives where appropriate.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Prepayments defer expense and release it systematically over the benefit period.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Depreciation allocates depreciable amount over useful life; accumulated depreciation preserves gross asset cost.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Foreign-currency monetary items may require period-end remeasurement and documented exchange-rate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48</a:t>
            </a:r>
          </a:p>
        </p:txBody>
      </p:sp>
    </p:spTree>
  </p:cSld>
  <p:transition spd="slow">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Sequence the close: transaction cut-off, subledgers, reconciliations, adjustments, analytical review, approval, then lock.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Apply least privilege and segregation of duties across master data, posting, reconciliation, reporting, and payment.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The audit log supports who/what/when investigation; it does not explain business purpose without supporting documents.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close-date password and exception approval reduce unauthorised backdating after management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49</a:t>
            </a:r>
          </a:p>
        </p:txBody>
      </p:sp>
    </p:spTree>
  </p:cSld>
  <p:transition spd="slow">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BOOKS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Close, roles, and audit trail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Sequence the close: transaction cut-off, subledgers, reconciliations, adjustments, analytical review, approval, then lock.</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Apply least privilege and segregation of duties across master data, posting, reconciliation, reporting, and payment.</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The audit log supports who/what/when investigation; it does not explain business purpose without supporting documents. A close-date password and exception approval reduce unauthorised backdating after management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50</a:t>
            </a:r>
          </a:p>
        </p:txBody>
      </p:sp>
    </p:spTree>
  </p:cSld>
  <p:transition spd="slow">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1F6FEB"/>
                </a:solidFill>
                <a:latin typeface="Arial"/>
              </a:rPr>
              <a:t>TOPIC 1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A01</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51</a:t>
            </a:r>
          </a:p>
        </p:txBody>
      </p:sp>
    </p:spTree>
  </p:cSld>
  <p:transition spd="slow">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01 · FOUNDATION BRIDGE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Design a Control-Ready Company File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Orchid Office Solutions Pte Ltd is moving from basic bookkeeping to a controlled cloud ledger before expanding into project work and inventory.</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Map opening balances and master data into a numbered chart of accounts with control, clearing, GST, inventory, fixed-asset, and suspense accounts.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account-mapping workbook</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QBO-ready customers, suppliers, and products CSVs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Opening-balance and exception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52</a:t>
            </a:r>
          </a:p>
        </p:txBody>
      </p:sp>
    </p:spTree>
  </p:cSld>
  <p:transition spd="slow">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Trial balance debits equal credits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All control accounts have an owner and purpose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duplicate active masters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exception has an owner and due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53</a:t>
            </a:r>
          </a:p>
        </p:txBody>
      </p:sp>
    </p:spTree>
  </p:cSld>
  <p:transition spd="slow">
    <p:fade/>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02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Run an Advanced Order-to-Cash Cycle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Merlion Fit-Outs receives a customer deposit, bills a project in stages, handles a scope reduction, and refunds an overpayment.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Process estimate-to-cash events without recognising revenue early or leaving unapplied customer balances.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Linked estimate/deposit/invoices/receipt/credit/refund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 ageing</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and customer-advance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54</a:t>
            </a:r>
          </a:p>
        </p:txBody>
      </p:sp>
    </p:spTree>
  </p:cSld>
  <p:transition spd="slow">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unapplied cash or negative customer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Revenue follows the scenario recognition point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AR ageing agrees to the control account</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Credit/refund trace to original GST treatment</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55</a:t>
            </a:r>
          </a:p>
        </p:txBody>
      </p:sp>
    </p:spTree>
  </p:cSld>
  <p:transition spd="slow">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03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Control Procure-to-Pay and Supplier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Harbour Tech Services buys equipment and subcontractor services, receives a price variance, a partial delivery, and a supplier credit.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Apply order-receipt-invoice thinking, prevent duplicate liabilities, and preserve approval evidence.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PO/bill/bill-credit/payment evidence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Supplier statement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Duplicate and bank-change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56</a:t>
            </a:r>
          </a:p>
        </p:txBody>
      </p:sp>
    </p:spTree>
  </p:cSld>
  <p:transition spd="slow">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03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duplicate invoice posted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AP ageing agrees to control account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Partial receipt and price variance are explained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Supplier credit is correctly applied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57</a:t>
            </a:r>
          </a:p>
        </p:txBody>
      </p:sp>
    </p:spTree>
  </p:cSld>
  <p:transition spd="slow">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04 · INTERMEDIATE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Reconcile Inventory Quantity and Value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Lion City Components has sales before purchase entry, damaged stock, a count variance, and an obsolete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Correct quantity and value while explaining the cost-of-sales and profit impact of every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import/review file</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Count and adjustment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Inventory valuation-to-GL reconciliation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58</a:t>
            </a:r>
          </a:p>
        </p:txBody>
      </p:sp>
    </p:spTree>
  </p:cSld>
  <p:transition spd="slow">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04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No unexplained negative inventory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Valuation agrees to GL</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Adjustment reasons and approvals are complete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COGS impact is explained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59</a:t>
            </a:r>
          </a:p>
        </p:txBody>
      </p:sp>
    </p:spTree>
  </p:cSld>
  <p:transition spd="slow">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05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Measure Project Profitability and Billing Leakage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Marina Design Studio tracks fixed-fee design projects with staff time, subcontractors, reimbursable costs, and milestone billing.</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Capture all project revenue and cost, identify unbilled work, and distinguish accounting accuracy from project performance.</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setup and transactions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Unbilled time/expense schedule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Project profitability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60</a:t>
            </a:r>
          </a:p>
        </p:txBody>
      </p:sp>
    </p:spTree>
  </p:cSld>
  <p:transition spd="slow">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05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attributable activity is assigned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Unbilled items are actioned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report agrees to source schedules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Margin conclusion identifies drivers and limits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61</a:t>
            </a:r>
          </a:p>
        </p:txBody>
      </p:sp>
    </p:spTree>
  </p:cSld>
  <p:transition spd="slow">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06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Engineer Bank Rules and Feed Exceptions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Northstar Catering receives a month of bank-feed lines with ambiguous descriptions, transfers, card settlements, loan receipts, and recurring rent.</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Match before add, design precise rule priority, and restrict auto-add to low-risk transactions.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Reviewed bank-feed classification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Rule register and priority map</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Exception and sampling evidence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62</a:t>
            </a:r>
          </a:p>
        </p:txBody>
      </p:sp>
    </p:spTree>
  </p:cSld>
  <p:transition spd="slow">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06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Existing entries are matched, not duplicated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Rule priority is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No high-risk auto-add rule</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Every excluded line has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63</a:t>
            </a:r>
          </a:p>
        </p:txBody>
      </p:sp>
    </p:spTree>
  </p:cSld>
  <p:transition spd="slow">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07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Resolve a Bank and Credit-Card Reconciliation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Sunrise Retail's books include a duplicate expense, an outstanding cheque, a missing fee, a deposit in transit, and a changed reconciled item.</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Reach a supported zero difference without an unexplained forced adjustment.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workpaper</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Correcting-entry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Reconciliation report and post-close exception review</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64</a:t>
            </a:r>
          </a:p>
        </p:txBody>
      </p:sp>
    </p:spTree>
  </p:cSld>
  <p:transition spd="slow">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07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Reconciliation difference is zero</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No forced unexplained adjustment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Outstanding items roll forward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Changes to reconciled items are investigated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65</a:t>
            </a:r>
          </a:p>
        </p:txBody>
      </p:sp>
    </p:spTree>
  </p:cSld>
  <p:transition spd="slow">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08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Post and Reverse Month-End Adjustments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CloudWorks Asia closes June with unbilled utilities, prepaid insurance, equipment depreciation, deferred customer revenue, and a USD payable.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Prepare supported accrual, deferral, depreciation, and foreign-currency adjustments with reversal logic.</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Adjustment calculations</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Journal-entry and reversal evidence</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Pre/post-adjustment trial-balance bridge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66</a:t>
            </a:r>
          </a:p>
        </p:txBody>
      </p:sp>
    </p:spTree>
  </p:cSld>
  <p:transition spd="slow">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08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Entries balance</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Calculations are formula-driven and supported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Reversals prevent double counting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Statement effects match policy</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67</a:t>
            </a:r>
          </a:p>
        </p:txBody>
      </p:sp>
    </p:spTree>
  </p:cSld>
  <p:transition spd="slow">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09 · ADVANCED · K1, A1</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Investigate Audit Log and Close-Control Breaches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After management sign-off, the controller finds a backdated invoice edit, a deleted bill, a new bank rule, and a supplier bank-detail change.</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Reconstruct events, assess financial impact, strengthen roles, and lock the approved period.</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Audit-log investigation</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Role and segregation-of-duties matrix</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Close exception and remediation plan</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68</a:t>
            </a:r>
          </a:p>
        </p:txBody>
      </p:sp>
    </p:spTree>
  </p:cSld>
  <p:transition spd="slow">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09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Every event is reconstructed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Financial impact is quantified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Role conflicts are remediated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Close is locked with controlled exceptions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69</a:t>
            </a:r>
          </a:p>
        </p:txBody>
      </p:sp>
    </p:spTree>
  </p:cSld>
  <p:transition spd="slow">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1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70</a:t>
            </a:r>
          </a:p>
        </p:txBody>
      </p:sp>
    </p:spTree>
  </p:cSld>
  <p:transition spd="slow">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71</a:t>
            </a:r>
          </a:p>
        </p:txBody>
      </p:sp>
    </p:spTree>
  </p:cSld>
  <p:transition spd="slow">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 K2 · A2 · A3</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Financial Reporting and Management Insight</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Statement integrity · report design · ageing · profitability · GST · variance and decision narratives</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72</a:t>
            </a:r>
          </a:p>
        </p:txBody>
      </p:sp>
    </p:spTree>
  </p:cSld>
  <p:transition spd="slow">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TOPIC 2</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Reports are outputs</a:t>
            </a:r>
          </a:p>
          <a:p>
            <a:pPr algn="l">
              <a:spcAft>
                <a:spcPts val="400"/>
              </a:spcAft>
            </a:pPr>
            <a:r>
              <a:rPr sz="1250" b="0">
                <a:solidFill>
                  <a:srgbClr val="5B6573"/>
                </a:solidFill>
                <a:latin typeface="Arial"/>
              </a:rPr>
              <a:t>A polished report cannot repair incomplete, duplicated, misdated, or misclassified transactions.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Triangulate</a:t>
            </a:r>
          </a:p>
          <a:p>
            <a:pPr algn="l">
              <a:spcAft>
                <a:spcPts val="400"/>
              </a:spcAft>
            </a:pPr>
            <a:r>
              <a:rPr sz="1250" b="0">
                <a:solidFill>
                  <a:srgbClr val="5B6573"/>
                </a:solidFill>
                <a:latin typeface="Arial"/>
              </a:rPr>
              <a:t>Tie the Profit and Loss, Balance Sheet, Cash Flow, subledgers, and reconciliation evidence together.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Segment with purpose</a:t>
            </a:r>
          </a:p>
          <a:p>
            <a:pPr algn="l">
              <a:spcAft>
                <a:spcPts val="400"/>
              </a:spcAft>
            </a:pPr>
            <a:r>
              <a:rPr sz="1250" b="0">
                <a:solidFill>
                  <a:srgbClr val="5B6573"/>
                </a:solidFill>
                <a:latin typeface="Arial"/>
              </a:rPr>
              <a:t>Projects, customers, products, classes, locations, and custom fields answer different management questions.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 the movement</a:t>
            </a:r>
          </a:p>
          <a:p>
            <a:pPr algn="l">
              <a:spcAft>
                <a:spcPts val="400"/>
              </a:spcAft>
            </a:pPr>
            <a:r>
              <a:rPr sz="1250" b="0">
                <a:solidFill>
                  <a:srgbClr val="5B6573"/>
                </a:solidFill>
                <a:latin typeface="Arial"/>
              </a:rPr>
              <a:t>A management pack pairs numbers with drivers, risks, actions, owners, and due dates.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73</a:t>
            </a:r>
          </a:p>
        </p:txBody>
      </p:sp>
    </p:spTree>
  </p:cSld>
  <p:transition spd="slow">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Financial statement architecture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Profit and Loss explains performance over a period; Balance Sheet shows financial position at a date.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Cash Flow explains movements in cash; profit can rise while cash falls because timing and non-cash items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Retained earnings links current and prior-period results to equity, subject to distributions and adjustments.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Report basis, period, comparison, currency, grouping, and accounting method must be explicit.</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74</a:t>
            </a:r>
          </a:p>
        </p:txBody>
      </p:sp>
    </p:spTree>
  </p:cSld>
  <p:transition spd="slow">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REPORTING FRAMEWORK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Financial statement architecture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Profit and Loss explains performance over a period; Balance Sheet shows financial position at a date.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Cash Flow explains movements in cash; profit can rise while cash falls because timing and non-cash items differ.</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Retained earnings links current and prior-period results to equity, subject to distributions and adjustments.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Report basis, period, comparison, currency, grouping, and accounting method must be explicit.</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75</a:t>
            </a:r>
          </a:p>
        </p:txBody>
      </p:sp>
    </p:spTree>
  </p:cSld>
  <p:transition spd="slow">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Performance and Cash Divergence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Revenue growth is not cash growth</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Explain gross-margin movement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Quantify drivers and actions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76</a:t>
            </a:r>
          </a:p>
        </p:txBody>
      </p:sp>
    </p:spTree>
  </p:cSld>
  <p:transition spd="slow">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Subledger-to-ledger reporting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AR ageing should tie to accounts receivable; AP ageing should tie to accounts payable.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Inventory valuation should tie to inventory asset; bank reconciliations should support cash balances.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GST detail and control accounts should support the return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trial balance is mathematically balanced even when classification, timing, or completeness is wrong.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77</a:t>
            </a:r>
          </a:p>
        </p:txBody>
      </p:sp>
    </p:spTree>
  </p:cSld>
  <p:transition spd="slow">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REPORT INTEGRITY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Subledger-to-ledger reporting bridge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AR ageing should tie to accounts receivable; AP ageing should tie to accounts payable.</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Inventory valuation should tie to inventory asset; bank reconciliations should support cash balances.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GST detail and control accounts should support the return working paper.</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trial balance is mathematically balanced even when classification, timing, or completeness is wrong.</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78</a:t>
            </a:r>
          </a:p>
        </p:txBody>
      </p:sp>
    </p:spTree>
  </p:cSld>
  <p:transition spd="slow">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Use customers/projects for counterparty and job profitability; products/services for revenue and margin mix.</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Use classes or locations for responsibility/operating segments where the subscription supports them.</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custom fields for controlled transaction attributes; avoid free-text labels that cannot be governed.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Document feature availability: reports and tracking options vary by QuickBooks Online subscription and region.</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79</a:t>
            </a:r>
          </a:p>
        </p:txBody>
      </p:sp>
    </p:spTree>
  </p:cSld>
  <p:transition spd="slow">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SEGMENTATION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Report dimensions and traceability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customers/projects for counterparty and job profitability; products/services for revenue and margin mix.</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Use classes or locations for responsibility/operating segments where the subscription supports them.</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Use custom fields for controlled transaction attributes; avoid free-text labels that cannot be governed. Document feature availability: reports and tracking options vary by QuickBooks Online subscription and region.</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80</a:t>
            </a:r>
          </a:p>
        </p:txBody>
      </p:sp>
    </p:spTree>
  </p:cSld>
  <p:transition spd="slow">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QUESTION-LED REPORTING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Custom report design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Start with the decision question, user, period, grain, measure, comparison, filter, and required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Choose a base report that contains the necessary transactions and dimensions before customising.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Save consistent filters and naming; schedule only after ownership, confidentiality, and recipient accuracy are confirmed.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Exported Excel/PDF copies are snapshots—label period, basis, run date, and source company.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81</a:t>
            </a:r>
          </a:p>
        </p:txBody>
      </p:sp>
    </p:spTree>
  </p:cSld>
  <p:transition spd="slow">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QUESTION-LED REPORTING</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Start with the decision question, user, period, grain, measure, comparison, filter, and required evidence.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Choose a base report that contains the necessary transactions and dimensions before customising. Save consistent filters and naming; schedule only after ownership, confidentiality, and recipient accuracy are confirmed. Exported Excel/PDF copies are snapshots—label period, basis, run date, and source company.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82</a:t>
            </a:r>
          </a:p>
        </p:txBody>
      </p:sp>
    </p:spTree>
  </p:cSld>
  <p:transition spd="slow">
    <p:fade/>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Receivables and payables analysis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Ageing is a risk view, not just a collection list; separate current, overdue, disputed, credit, and unapplied balances.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Track days sales outstanding, overdue concentration, promise-to-pay status, and collection outcomes.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For payables, combine ageing with due dates, cash forecast, supplier criticality, discounts, and disputed items.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Reconcile ageing totals before presenting working-capital conclusions.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83</a:t>
            </a:r>
          </a:p>
        </p:txBody>
      </p:sp>
    </p:spTree>
  </p:cSld>
  <p:transition spd="slow">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WORKING CAPITAL</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Receivables and payables analysis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Ageing is a risk view, not just a collection list; separate current, overdue, disputed, credit, and unapplied balances.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Track days sales outstanding, overdue concentration, promise-to-pay status, and collection outcomes.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For payables, combine ageing with due dates, cash forecast, supplier criticality, discounts, and disputed items.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Reconcile ageing totals before presenting working-capital conclusions.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84</a:t>
            </a:r>
          </a:p>
        </p:txBody>
      </p:sp>
    </p:spTree>
  </p:cSld>
  <p:transition spd="slow">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Ageing Risk Concentration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Overdue concentration is rising</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total to AR control first</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Separate disputes and unapplied cash</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85</a:t>
            </a:r>
          </a:p>
        </p:txBody>
      </p:sp>
    </p:spTree>
  </p:cSld>
  <p:transition spd="slow">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Bridge revenue, volume/mix, direct cost, gross margin, overhead, and net result across periods or plans.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Project and product margin analysis must capture all attributable costs and avoid unassigned expenses.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one-off, timing, structural, volume, price, mix, and efficiency drivers.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Pair every material variance with evidence, an owner, a corrective action, and a target date.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86</a:t>
            </a:r>
          </a:p>
        </p:txBody>
      </p:sp>
    </p:spTree>
  </p:cSld>
  <p:transition spd="slow">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MANAGEMENT INSIGHT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Profitability and variance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Bridge revenue, volume/mix, direct cost, gross margin, overhead, and net result across periods or plans.</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Project and product margin analysis must capture all attributable costs and avoid unassigned expenses.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one-off, timing, structural, volume, price, mix, and efficiency drivers.</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Pair every material variance with evidence, an owner, a corrective action, and a target date.</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87</a:t>
            </a:r>
          </a:p>
        </p:txBody>
      </p:sp>
    </p:spTree>
  </p:cSld>
  <p:transition spd="slow">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Project Margin Comparison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Margin differs by job</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Check unassigned costs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Compare estimate, actual, and unbilled</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88</a:t>
            </a:r>
          </a:p>
        </p:txBody>
      </p:sp>
    </p:spTree>
  </p:cSld>
  <p:transition spd="slow">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Operating cash is affected by profit, receivables, payables, inventory, tax, and other working-capital movements.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Investing activity captures long-lived asset movements; financing captures debt, capital, and distributions.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bank reconciliations and balance-sheet movements to challenge the cash-flow narrative.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positive profit with ageing receivables and rising inventory can still create a liquidity squeeze.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89</a:t>
            </a:r>
          </a:p>
        </p:txBody>
      </p:sp>
    </p:spTree>
  </p:cSld>
  <p:transition spd="slow">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PROFIT IS NOT CASH</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Cash flow and liquidity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Operating cash is affected by profit, receivables, payables, inventory, tax, and other working-capital movements.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Investing activity captures long-lived asset movements; financing captures debt, capital, and distributions.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bank reconciliations and balance-sheet movements to challenge the cash-flow narrative.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positive profit with ageing receivables and rising inventory can still create a liquidity squeeze.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90</a:t>
            </a:r>
          </a:p>
        </p:txBody>
      </p:sp>
    </p:spTree>
  </p:cSld>
  <p:transition spd="slow">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Singapore's prevailing GST rate is 9%; validate transaction date, place/treatment, tax code, and documentary support.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Separate standard-rated, zero-rated, exempt, out-of-scope, reverse-charge, and disallowed input-tax cases as applicable.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Tie taxable supplies/purchases and output/input tax from transaction detail to control accounts and the GST working paper.</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Corrections may require GST F7; retain evidence and escalate tax judgement rather than forcing a QuickBooks code.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91</a:t>
            </a:r>
          </a:p>
        </p:txBody>
      </p:sp>
    </p:spTree>
  </p:cSld>
  <p:transition spd="slow">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GST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control and return readiness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Singapore's prevailing GST rate is 9%; validate transaction date, place/treatment, tax code, and documentary support.</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Separate standard-rated, zero-rated, exempt, out-of-scope, reverse-charge, and disallowed input-tax cases as applicable.</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Tie taxable supplies/purchases and output/input tax from transaction detail to control accounts and the GST working paper. Corrections may require GST F7; retain evidence and escalate tax judgement rather than forcing a QuickBooks code.</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92</a:t>
            </a:r>
          </a:p>
        </p:txBody>
      </p:sp>
    </p:spTree>
  </p:cSld>
  <p:transition spd="slow">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EDITABLE NATIVE CHART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GST Output and Input Control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68680" y="1874519"/>
          <a:ext cx="7452360" cy="3886200"/>
        </p:xfrm>
        <a:graphic>
          <a:graphicData uri="http://schemas.openxmlformats.org/drawingml/2006/chart">
            <c:chart xmlns:c="http://schemas.openxmlformats.org/drawingml/2006/chart" r:id="rId2"/>
          </a:graphicData>
        </a:graphic>
      </p:graphicFrame>
      <p:sp>
        <p:nvSpPr>
          <p:cNvPr id="8" name="Rounded Rectangle 7"/>
          <p:cNvSpPr/>
          <p:nvPr/>
        </p:nvSpPr>
        <p:spPr>
          <a:xfrm>
            <a:off x="8549640" y="1874519"/>
            <a:ext cx="2907792" cy="38862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157984"/>
            <a:ext cx="2395728" cy="329184"/>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READ THE SIGNAL</a:t>
            </a:r>
          </a:p>
        </p:txBody>
      </p:sp>
      <p:sp>
        <p:nvSpPr>
          <p:cNvPr id="10" name="Oval 9"/>
          <p:cNvSpPr/>
          <p:nvPr/>
        </p:nvSpPr>
        <p:spPr>
          <a:xfrm>
            <a:off x="8823960" y="2761488"/>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1160" y="2734056"/>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Validate coding and documents</a:t>
            </a:r>
          </a:p>
        </p:txBody>
      </p:sp>
      <p:sp>
        <p:nvSpPr>
          <p:cNvPr id="12" name="Oval 11"/>
          <p:cNvSpPr/>
          <p:nvPr/>
        </p:nvSpPr>
        <p:spPr>
          <a:xfrm>
            <a:off x="8823960" y="3602736"/>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3575304"/>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Tie detail to control accounts</a:t>
            </a:r>
          </a:p>
        </p:txBody>
      </p:sp>
      <p:sp>
        <p:nvSpPr>
          <p:cNvPr id="14" name="Oval 13"/>
          <p:cNvSpPr/>
          <p:nvPr/>
        </p:nvSpPr>
        <p:spPr>
          <a:xfrm>
            <a:off x="8823960" y="4443984"/>
            <a:ext cx="310896" cy="31089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4416552"/>
            <a:ext cx="1874519" cy="658368"/>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Escalate judgement cases</a:t>
            </a:r>
          </a:p>
        </p:txBody>
      </p:sp>
      <p:sp>
        <p:nvSpPr>
          <p:cNvPr id="16" name="TextBox 1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7" name="TextBox 1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8" name="TextBox 1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93</a:t>
            </a:r>
          </a:p>
        </p:txBody>
      </p:sp>
    </p:spTree>
  </p:cSld>
  <p:transition spd="slow">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FROM DATA TO ACTION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Management report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Executive summary: what changed, why it matters, and the decision required.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Core statements: Profit and Loss, Balance Sheet, Cash Flow, with comparisons and consistent basis.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Schedules: AR/AP ageing, inventory, project profitability, GST, reconciliation, and exception log.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Actions: issue, evidence, impact, owner, due date, and status; preserve drill-down traceability.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94</a:t>
            </a:r>
          </a:p>
        </p:txBody>
      </p:sp>
    </p:spTree>
  </p:cSld>
  <p:transition spd="slow">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FROM DATA TO ACTION</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Executive summary: what changed, why it matters, and the decision required.</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Core statements: Profit and Loss, Balance Sheet, Cash Flow, with comparisons and consistent basis. Schedules: AR/AP ageing, inventory, project profitability, GST, reconciliation, and exception log. Actions: issue, evidence, impact, owner, due date, and status; preserve drill-down traceability.</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95</a:t>
            </a:r>
          </a:p>
        </p:txBody>
      </p:sp>
    </p:spTree>
  </p:cSld>
  <p:transition spd="slow">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Analytical review and red flags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Scan for unexpected signs, round-number journals, dormant accounts, suspense balances, and backdated entries.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margin, working capital, ageing, inventory days, and tax ratios over time and against operational context.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Investigate rather than delete anomalies; document conclusion and evidence even when no correction is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Management commentary must separate verified facts, estimates, assumptions, and recommended actions.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96</a:t>
            </a:r>
          </a:p>
        </p:txBody>
      </p:sp>
    </p:spTree>
  </p:cSld>
  <p:transition spd="slow">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QUALITY BEFORE PRESENTATION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Analytical review and red flags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Scan for unexpected signs, round-number journals, dormant accounts, suspense balances, and backdated entries.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Compare margin, working capital, ageing, inventory days, and tax ratios over time and against operational context.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Investigate rather than delete anomalies; document conclusion and evidence even when no correction is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commentary must separate verified facts, estimates, assumptions, and recommended actions.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97</a:t>
            </a:r>
          </a:p>
        </p:txBody>
      </p:sp>
    </p:spTree>
  </p:cSld>
  <p:transition spd="slow">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008E8E"/>
                </a:solidFill>
                <a:latin typeface="Arial"/>
              </a:rPr>
              <a:t>TOPIC 2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A10</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98</a:t>
            </a:r>
          </a:p>
        </p:txBody>
      </p:sp>
    </p:spTree>
  </p:cSld>
  <p:transition spd="slow">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10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Build a Reconciled Financial Reporting Pack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Beacon Services needs a monthly pack for directors after rapid growth created ageing, project-margin, and cash-flow concerns.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Produce statements and schedules that tie to validated source data, then explain performance drivers and actions.</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Reconciled P&amp;L, Balance Sheet, and Cash Flow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AR/AP/project schedules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Executive variance and action narrative</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99</a:t>
            </a:r>
          </a:p>
        </p:txBody>
      </p:sp>
    </p:spTree>
  </p:cSld>
  <p:transition spd="slow">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10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schedules tie to the GL or explain differences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Statements are internally consistent</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Conclusions cite quantified drivers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Actions have owner and date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100</a:t>
            </a:r>
          </a:p>
        </p:txBody>
      </p:sp>
    </p:spTree>
  </p:cSld>
  <p:transition spd="slow">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11 · ADVANCED · K2, A2, A3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Prepare a GST Control and F5 Working Paper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Straits Commerce has standard-rated, zero-rated, exempt, out-of-scope, credit-note, and potentially disallowed input-tax transactions for a quarterly GST review.</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Validate tax coding, reconcile output/input tax, and identify items requiring correction or escalation.</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GST transaction review</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Control-account reconciliation</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Draft F5 working paper and error/escalation log</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101</a:t>
            </a:r>
          </a:p>
        </p:txBody>
      </p:sp>
    </p:spTree>
  </p:cSld>
  <p:transition spd="slow">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11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Output/input tax ties to control accounts</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Rate and coding exceptions are documented</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Disallowed/unsupported input tax is excluded or escalated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Working paper traces to source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102</a:t>
            </a:r>
          </a:p>
        </p:txBody>
      </p:sp>
    </p:spTree>
  </p:cSld>
  <p:transition spd="slow">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2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103</a:t>
            </a:r>
          </a:p>
        </p:txBody>
      </p:sp>
    </p:spTree>
  </p:cSld>
  <p:transition spd="slow">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66360" y="1417320"/>
            <a:ext cx="1828800" cy="18288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66360" y="1856231"/>
            <a:ext cx="1828800" cy="731520"/>
          </a:xfrm>
          <a:prstGeom prst="rect">
            <a:avLst/>
          </a:prstGeom>
          <a:noFill/>
        </p:spPr>
        <p:txBody>
          <a:bodyPr wrap="square" anchor="ctr" lIns="54864" rIns="54864" tIns="54864" bIns="54864">
            <a:spAutoFit/>
          </a:bodyPr>
          <a:lstStyle/>
          <a:p>
            <a:pPr algn="ctr">
              <a:spcAft>
                <a:spcPts val="400"/>
              </a:spcAft>
            </a:pPr>
            <a:r>
              <a:rPr sz="4000" b="1">
                <a:solidFill>
                  <a:srgbClr val="FFFFFF"/>
                </a:solidFill>
                <a:latin typeface="Arial"/>
              </a:rPr>
              <a:t>☕</a:t>
            </a:r>
          </a:p>
        </p:txBody>
      </p:sp>
      <p:sp>
        <p:nvSpPr>
          <p:cNvPr id="5" name="TextBox 4"/>
          <p:cNvSpPr txBox="1"/>
          <p:nvPr/>
        </p:nvSpPr>
        <p:spPr>
          <a:xfrm>
            <a:off x="914400" y="3703320"/>
            <a:ext cx="10332720" cy="685800"/>
          </a:xfrm>
          <a:prstGeom prst="rect">
            <a:avLst/>
          </a:prstGeom>
          <a:noFill/>
        </p:spPr>
        <p:txBody>
          <a:bodyPr wrap="square" anchor="t" lIns="54864" rIns="54864" tIns="54864" bIns="54864">
            <a:spAutoFit/>
          </a:bodyPr>
          <a:lstStyle/>
          <a:p>
            <a:pPr algn="ctr">
              <a:spcAft>
                <a:spcPts val="400"/>
              </a:spcAft>
            </a:pPr>
            <a:r>
              <a:rPr sz="3400" b="1">
                <a:solidFill>
                  <a:srgbClr val="17242B"/>
                </a:solidFill>
                <a:latin typeface="Arial"/>
              </a:rPr>
              <a:t>Break · Return on time</a:t>
            </a:r>
          </a:p>
        </p:txBody>
      </p:sp>
      <p:sp>
        <p:nvSpPr>
          <p:cNvPr id="6" name="TextBox 5"/>
          <p:cNvSpPr txBox="1"/>
          <p:nvPr/>
        </p:nvSpPr>
        <p:spPr>
          <a:xfrm>
            <a:off x="914400" y="4572000"/>
            <a:ext cx="10332720" cy="502920"/>
          </a:xfrm>
          <a:prstGeom prst="rect">
            <a:avLst/>
          </a:prstGeom>
          <a:noFill/>
        </p:spPr>
        <p:txBody>
          <a:bodyPr wrap="square" anchor="t" lIns="54864" rIns="54864" tIns="54864" bIns="54864">
            <a:spAutoFit/>
          </a:bodyPr>
          <a:lstStyle/>
          <a:p>
            <a:pPr algn="ctr">
              <a:spcAft>
                <a:spcPts val="400"/>
              </a:spcAft>
            </a:pPr>
            <a:r>
              <a:rPr sz="1600" b="0">
                <a:solidFill>
                  <a:srgbClr val="5B6573"/>
                </a:solidFill>
                <a:latin typeface="Arial"/>
              </a:rPr>
              <a:t>Use the activity workbook to record unresolved questions before the next section.</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104</a:t>
            </a:r>
          </a:p>
        </p:txBody>
      </p:sp>
    </p:spTree>
  </p:cSld>
  <p:transition spd="slow">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 K3 · A4</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Accounting Principles and Standards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Singapore reporting framework · recognition and measurement · estimates · disclosures · system-to-standard bridge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03</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105</a:t>
            </a:r>
          </a:p>
        </p:txBody>
      </p:sp>
    </p:spTree>
  </p:cSld>
  <p:transition spd="slow">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TOPIC 3</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Key Concepts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Singapore context</a:t>
            </a:r>
          </a:p>
          <a:p>
            <a:pPr algn="l">
              <a:spcAft>
                <a:spcPts val="400"/>
              </a:spcAft>
            </a:pPr>
            <a:r>
              <a:rPr sz="1250" b="0">
                <a:solidFill>
                  <a:srgbClr val="5B6573"/>
                </a:solidFill>
                <a:latin typeface="Arial"/>
              </a:rPr>
              <a:t>Use the applicable SFRS(I), FRS, or SFRS for Small Entities framework—not a generic US-GAAP shortcut.</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System is not policy</a:t>
            </a:r>
          </a:p>
          <a:p>
            <a:pPr algn="l">
              <a:spcAft>
                <a:spcPts val="400"/>
              </a:spcAft>
            </a:pPr>
            <a:r>
              <a:rPr sz="1250" b="0">
                <a:solidFill>
                  <a:srgbClr val="5B6573"/>
                </a:solidFill>
                <a:latin typeface="Arial"/>
              </a:rPr>
              <a:t>QuickBooks records approved accounting treatments; it does not choose the reporting framework or judgement.</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Recognition and measurement</a:t>
            </a:r>
          </a:p>
          <a:p>
            <a:pPr algn="l">
              <a:spcAft>
                <a:spcPts val="400"/>
              </a:spcAft>
            </a:pPr>
            <a:r>
              <a:rPr sz="1250" b="0">
                <a:solidFill>
                  <a:srgbClr val="5B6573"/>
                </a:solidFill>
                <a:latin typeface="Arial"/>
              </a:rPr>
              <a:t>Timing, classification, estimates, and measurement bases shape profit, assets, liabilities, and disclosures.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Qualitative characteristics</a:t>
            </a:r>
          </a:p>
          <a:p>
            <a:pPr algn="l">
              <a:spcAft>
                <a:spcPts val="400"/>
              </a:spcAft>
            </a:pPr>
            <a:r>
              <a:rPr sz="1250" b="0">
                <a:solidFill>
                  <a:srgbClr val="5B6573"/>
                </a:solidFill>
                <a:latin typeface="Arial"/>
              </a:rPr>
              <a:t>Relevance, faithful representation, comparability, verifiability, timeliness, and understandability guide choices.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106</a:t>
            </a:r>
          </a:p>
        </p:txBody>
      </p:sp>
    </p:spTree>
  </p:cSld>
  <p:transition spd="slow">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Determine whether the entity applies SFRS(I), FRS, SFRS for Small Entities, or another permitted framework.</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Document policy choices, effective dates, transition requirements, materiality, and disclosure obligations.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Use current ASC/ACRA/IRAS and professional advice where judgement or regulation is consequential.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account names and reports do not establish compliance by themselves.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107</a:t>
            </a:r>
          </a:p>
        </p:txBody>
      </p:sp>
    </p:spTree>
  </p:cSld>
  <p:transition spd="slow">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SINGAPORE STANDARDS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Applicable reporting framework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Determine whether the entity applies SFRS(I), FRS, SFRS for Small Entities, or another permitted framework.</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Document policy choices, effective dates, transition requirements, materiality, and disclosure obligations.</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Use current ASC/ACRA/IRAS and professional advice where judgement or regulation is consequential.</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QuickBooks account names and reports do not establish compliance by themselves.</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108</a:t>
            </a:r>
          </a:p>
        </p:txBody>
      </p:sp>
    </p:spTree>
  </p:cSld>
  <p:transition spd="slow">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Applicable reporting framework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Determine whether the entity applies SFRS(I), FRS, SFRS for Small Entities, or another permitted framework.</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Document policy choices, effective dates, transition requirements, materiality, and disclosure obligations.</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Use current ASC/ACRA/IRAS and professional advice where judgement or regulation is consequential.</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account names and reports do not establish compliance by themselves.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109</a:t>
            </a:r>
          </a:p>
        </p:txBody>
      </p:sp>
    </p:spTree>
  </p:cSld>
  <p:transition spd="slow">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Recognise income and expenses when the underlying rights, obligations, and performance occur—not merely when cash moves.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Customer deposits may be contract liabilities; unbilled earned revenue may require receivable/contract-asset analysis.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Supplier invoices received late do not erase obligations existing at reporting date.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Use reversal and clearing logic to avoid double counting when source documents arrive after close.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110</a:t>
            </a:r>
          </a:p>
        </p:txBody>
      </p:sp>
    </p:spTree>
  </p:cSld>
  <p:transition spd="slow">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RECOGNITION TIMING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Accrual and matching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Recognise income and expenses when the underlying rights, obligations, and performance occur—not merely when cash moves.</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Customer deposits may be contract liabilities; unbilled earned revenue may require receivable/contract-asset analysis.</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Supplier invoices received late do not erase obligations existing at reporting date.</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Use reversal and clearing logic to avoid double counting when source documents arrive after close.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111</a:t>
            </a:r>
          </a:p>
        </p:txBody>
      </p:sp>
    </p:spTree>
  </p:cSld>
  <p:transition spd="slow">
    <p:fade/>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Identify the contract, performance obligations, transaction price, allocation, and satisfaction pattern.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Invoice date, payment date, and revenue-recognition date can differ.</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Project deposits, progress billing, credits, refunds, and variable consideration require consistent policy mapping.</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QuickBooks forms operationalise the approved policy; they do not replace contract analysis.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112</a:t>
            </a:r>
          </a:p>
        </p:txBody>
      </p:sp>
    </p:spTree>
  </p:cSld>
  <p:transition spd="slow">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PERFORMANCE OBLIGATIONS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Identify the contract, performance obligations, transaction price, allocation, and satisfaction pattern.</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Invoice date, payment date, and revenue-recognition date can differ.</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Project deposits, progress billing, credits, refunds, and variable consideration require consistent policy mapping. QuickBooks forms operationalise the approved policy; they do not replace contract analysis.</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113</a:t>
            </a:r>
          </a:p>
        </p:txBody>
      </p:sp>
    </p:spTree>
  </p:cSld>
  <p:transition spd="slow">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Revenue recognition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Identify the contract, performance obligations, transaction price, allocation, and satisfaction pattern.</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Invoice date, payment date, and revenue-recognition date can differ.</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Project deposits, progress billing, credits, refunds, and variable consideration require consistent policy mapping.</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QuickBooks forms operationalise the approved policy; they do not replace contract analysis.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114</a:t>
            </a:r>
          </a:p>
        </p:txBody>
      </p:sp>
    </p:spTree>
  </p:cSld>
  <p:transition spd="slow">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COST AND NRV</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Inventory measurement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Inventory includes eligible purchase and conversion costs under the applicable policy, not every related expenditure.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Compare carrying amount with net realisable value and recognise write-downs where required.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Obsolescence, damage, slow movement, negative quantities, and post-period sales inform the estimate.</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A quantity adjustment changes both operational records and financial results; evidence and approval are essential.</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115</a:t>
            </a:r>
          </a:p>
        </p:txBody>
      </p:sp>
    </p:spTree>
  </p:cSld>
  <p:transition spd="slow">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COST AND NRV</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Inventory includes eligible purchase and conversion costs under the applicable policy, not every related expenditure.</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Compare carrying amount with net realisable value and recognise write-downs where required. Obsolescence, damage, slow movement, negative quantities, and post-period sales inform the estimate. A quantity adjustment changes both operational records and financial results; evidence and approval are essential.</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116</a:t>
            </a:r>
          </a:p>
        </p:txBody>
      </p:sp>
    </p:spTree>
  </p:cSld>
  <p:transition spd="slow">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Capitalise when recognition criteria are met; expense repairs and routine maintenance under the policy.</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Component, useful life, residual value, method, and start date drive depreciation.</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Review indicators of impairment and changes in estimates; apply prospectively where required.</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Maintain a fixed-asset register outside or alongside QuickBooks and reconcile it to cost and accumulated depreciation accounts.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117</a:t>
            </a:r>
          </a:p>
        </p:txBody>
      </p:sp>
    </p:spTree>
  </p:cSld>
  <p:transition spd="slow">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CAPITALISE, DEPRECIATE, IMPAIR</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Property, plant and equipment · Review questions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Capitalise when recognition criteria are met; expense repairs and routine maintenance under the policy.</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Component, useful life, residual value, method, and start date drive depreciation.</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Review indicators of impairment and changes in estimates; apply prospectively where required.</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Maintain a fixed-asset register outside or alongside QuickBooks and reconcile it to cost and accumulated depreciation accounts.</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118</a:t>
            </a:r>
          </a:p>
        </p:txBody>
      </p:sp>
    </p:spTree>
  </p:cSld>
  <p:transition spd="slow">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Record foreign-currency transactions using the applicable transaction-date rate and preserve source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Remeasure monetary balances at reporting date where required; recognise exchange differences appropriately.</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Distinguish transaction currency, functional currency, and presentation currency.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Subscription features and exchange-rate automation do not remove the need for policy, reasonableness, and close review.</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119</a:t>
            </a:r>
          </a:p>
        </p:txBody>
      </p:sp>
    </p:spTree>
  </p:cSld>
  <p:transition spd="slow">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TRANSACTION AND CLOSING-RATE EFFECTS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Foreign currency · Design vs evidence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303520"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1F6FEB"/>
                </a:solidFill>
                <a:latin typeface="Arial"/>
              </a:rPr>
              <a:t>DESIGN / DECIDE</a:t>
            </a:r>
          </a:p>
        </p:txBody>
      </p:sp>
      <p:sp>
        <p:nvSpPr>
          <p:cNvPr id="10" name="Oval 9"/>
          <p:cNvSpPr/>
          <p:nvPr/>
        </p:nvSpPr>
        <p:spPr>
          <a:xfrm>
            <a:off x="969264" y="2606040"/>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2" name="TextBox 11"/>
          <p:cNvSpPr txBox="1"/>
          <p:nvPr/>
        </p:nvSpPr>
        <p:spPr>
          <a:xfrm>
            <a:off x="14264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Record foreign-currency transactions using the applicable transaction-date rate and preserve source evidence.</a:t>
            </a:r>
          </a:p>
        </p:txBody>
      </p:sp>
      <p:sp>
        <p:nvSpPr>
          <p:cNvPr id="13" name="Oval 12"/>
          <p:cNvSpPr/>
          <p:nvPr/>
        </p:nvSpPr>
        <p:spPr>
          <a:xfrm>
            <a:off x="969264" y="3438144"/>
            <a:ext cx="310896" cy="31089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15" name="TextBox 14"/>
          <p:cNvSpPr txBox="1"/>
          <p:nvPr/>
        </p:nvSpPr>
        <p:spPr>
          <a:xfrm>
            <a:off x="14264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Remeasure monetary balances at reporting date where required; recognise exchange differences appropriately.</a:t>
            </a:r>
          </a:p>
        </p:txBody>
      </p:sp>
      <p:sp>
        <p:nvSpPr>
          <p:cNvPr id="16" name="Rounded Rectangle 15"/>
          <p:cNvSpPr/>
          <p:nvPr/>
        </p:nvSpPr>
        <p:spPr>
          <a:xfrm>
            <a:off x="6199632" y="1783080"/>
            <a:ext cx="5303520" cy="432511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783080"/>
            <a:ext cx="5303520" cy="109728"/>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029968"/>
            <a:ext cx="4800600" cy="384048"/>
          </a:xfrm>
          <a:prstGeom prst="rect">
            <a:avLst/>
          </a:prstGeom>
          <a:noFill/>
        </p:spPr>
        <p:txBody>
          <a:bodyPr wrap="square" anchor="t" lIns="54864" rIns="54864" tIns="54864" bIns="54864">
            <a:spAutoFit/>
          </a:bodyPr>
          <a:lstStyle/>
          <a:p>
            <a:pPr algn="l">
              <a:spcAft>
                <a:spcPts val="400"/>
              </a:spcAft>
            </a:pPr>
            <a:r>
              <a:rPr sz="1700" b="1">
                <a:solidFill>
                  <a:srgbClr val="008E8E"/>
                </a:solidFill>
                <a:latin typeface="Arial"/>
              </a:rPr>
              <a:t>VERIFY / CONTROL</a:t>
            </a:r>
          </a:p>
        </p:txBody>
      </p:sp>
      <p:sp>
        <p:nvSpPr>
          <p:cNvPr id="19" name="Oval 18"/>
          <p:cNvSpPr/>
          <p:nvPr/>
        </p:nvSpPr>
        <p:spPr>
          <a:xfrm>
            <a:off x="6455664" y="2606040"/>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615184"/>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21" name="TextBox 20"/>
          <p:cNvSpPr txBox="1"/>
          <p:nvPr/>
        </p:nvSpPr>
        <p:spPr>
          <a:xfrm>
            <a:off x="6912864" y="2578608"/>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Distinguish transaction currency, functional currency, and presentation currency.</a:t>
            </a:r>
          </a:p>
        </p:txBody>
      </p:sp>
      <p:sp>
        <p:nvSpPr>
          <p:cNvPr id="22" name="Oval 21"/>
          <p:cNvSpPr/>
          <p:nvPr/>
        </p:nvSpPr>
        <p:spPr>
          <a:xfrm>
            <a:off x="6455664" y="3438144"/>
            <a:ext cx="310896" cy="310896"/>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447288"/>
            <a:ext cx="310896" cy="265176"/>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4" name="TextBox 23"/>
          <p:cNvSpPr txBox="1"/>
          <p:nvPr/>
        </p:nvSpPr>
        <p:spPr>
          <a:xfrm>
            <a:off x="6912864" y="3410712"/>
            <a:ext cx="4297680" cy="640080"/>
          </a:xfrm>
          <a:prstGeom prst="rect">
            <a:avLst/>
          </a:prstGeom>
          <a:noFill/>
        </p:spPr>
        <p:txBody>
          <a:bodyPr wrap="square" anchor="ctr" lIns="54864" rIns="54864" tIns="54864" bIns="54864">
            <a:spAutoFit/>
          </a:bodyPr>
          <a:lstStyle/>
          <a:p>
            <a:pPr algn="l">
              <a:spcAft>
                <a:spcPts val="400"/>
              </a:spcAft>
            </a:pPr>
            <a:r>
              <a:rPr sz="1350" b="0">
                <a:solidFill>
                  <a:srgbClr val="17242B"/>
                </a:solidFill>
                <a:latin typeface="Arial"/>
              </a:rPr>
              <a:t>Subscription features and exchange-rate automation do not remove the need for policy, reasonableness, and close review.</a:t>
            </a:r>
          </a:p>
        </p:txBody>
      </p:sp>
      <p:sp>
        <p:nvSpPr>
          <p:cNvPr id="25" name="TextBox 24"/>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6" name="TextBox 25"/>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7" name="TextBox 26"/>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120</a:t>
            </a:r>
          </a:p>
        </p:txBody>
      </p:sp>
    </p:spTree>
  </p:cSld>
  <p:transition spd="slow">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Estimates, errors, and policy changes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A change in estimate reflects new information; a prior-period error corrects information that was available or could reasonably have been obtained.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A policy change follows the applicable standard and transition rules; do not label every correction an estimate.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Assess materiality individually and in aggregate, including qualitative effects on users and covenants.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Preserve an adjustment paper: issue, requirement, calculation, entries, statements affected, disclosure, approval, and evidence.</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121</a:t>
            </a:r>
          </a:p>
        </p:txBody>
      </p:sp>
    </p:spTree>
  </p:cSld>
  <p:transition spd="slow">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CHANGE CLASSIFICATION</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Control flow</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7340"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7340"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2350008" cy="1481328"/>
          </a:xfrm>
          <a:prstGeom prst="rect">
            <a:avLst/>
          </a:prstGeom>
          <a:noFill/>
        </p:spPr>
        <p:txBody>
          <a:bodyPr wrap="square" anchor="ctr" lIns="54864" rIns="54864" tIns="54864" bIns="54864">
            <a:spAutoFit/>
          </a:bodyPr>
          <a:lstStyle/>
          <a:p>
            <a:pPr algn="ctr">
              <a:spcAft>
                <a:spcPts val="400"/>
              </a:spcAft>
            </a:pPr>
            <a:r>
              <a:rPr sz="1000" b="0">
                <a:solidFill>
                  <a:srgbClr val="17242B"/>
                </a:solidFill>
                <a:latin typeface="Arial"/>
              </a:rPr>
              <a:t>A change in estimate reflects new information; a prior-period error corrects information that was available or could reasonably have been obtained.</a:t>
            </a:r>
          </a:p>
        </p:txBody>
      </p:sp>
      <p:sp>
        <p:nvSpPr>
          <p:cNvPr id="11" name="TextBox 10"/>
          <p:cNvSpPr txBox="1"/>
          <p:nvPr/>
        </p:nvSpPr>
        <p:spPr>
          <a:xfrm>
            <a:off x="3209544"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3429000"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7972"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7972"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3538728"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 policy change follows the applicable standard and transition rules; do not label every correction an estimate.</a:t>
            </a:r>
          </a:p>
        </p:txBody>
      </p:sp>
      <p:sp>
        <p:nvSpPr>
          <p:cNvPr id="16" name="TextBox 15"/>
          <p:cNvSpPr txBox="1"/>
          <p:nvPr/>
        </p:nvSpPr>
        <p:spPr>
          <a:xfrm>
            <a:off x="5980176"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6199632"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18604"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8604"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6309360"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Assess materiality individually and in aggregate, including qualitative effects on users and covenants.</a:t>
            </a:r>
          </a:p>
        </p:txBody>
      </p:sp>
      <p:sp>
        <p:nvSpPr>
          <p:cNvPr id="21" name="TextBox 20"/>
          <p:cNvSpPr txBox="1"/>
          <p:nvPr/>
        </p:nvSpPr>
        <p:spPr>
          <a:xfrm>
            <a:off x="8750808"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8970264" y="2084831"/>
            <a:ext cx="2569464"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89236"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923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9079992" y="3346704"/>
            <a:ext cx="2350008" cy="1481328"/>
          </a:xfrm>
          <a:prstGeom prst="rect">
            <a:avLst/>
          </a:prstGeom>
          <a:noFill/>
        </p:spPr>
        <p:txBody>
          <a:bodyPr wrap="square" anchor="ctr" lIns="54864" rIns="54864" tIns="54864" bIns="54864">
            <a:spAutoFit/>
          </a:bodyPr>
          <a:lstStyle/>
          <a:p>
            <a:pPr algn="ctr">
              <a:spcAft>
                <a:spcPts val="400"/>
              </a:spcAft>
            </a:pPr>
            <a:r>
              <a:rPr sz="1150" b="0">
                <a:solidFill>
                  <a:srgbClr val="17242B"/>
                </a:solidFill>
                <a:latin typeface="Arial"/>
              </a:rPr>
              <a:t>Preserve an adjustment paper: issue, requirement, calculation, entries, statements affected, disclosure, approval, and evidence.</a:t>
            </a:r>
          </a:p>
        </p:txBody>
      </p:sp>
      <p:sp>
        <p:nvSpPr>
          <p:cNvPr id="26" name="TextBox 25"/>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7" name="TextBox 26"/>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8" name="TextBox 27"/>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122</a:t>
            </a:r>
          </a:p>
        </p:txBody>
      </p:sp>
    </p:spTree>
  </p:cSld>
  <p:transition spd="slow">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Estimates, errors, and policy changes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 change in estimate reflects new information; a prior-period error corrects information that was available or could reasonably have been obtained.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A policy change follows the applicable standard and transition rules; do not label every correction an estimate.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Assess materiality individually and in aggregate, including qualitative effects on users and covenants.</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Preserve an adjustment paper: issue, requirement, calculation, entries, statements affected, disclosure, approval, and evidence.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123</a:t>
            </a:r>
          </a:p>
        </p:txBody>
      </p:sp>
    </p:spTree>
  </p:cSld>
  <p:transition spd="slow">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Relevance: information can influence decisions; materiality is entity-specific.</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Faithful representation: complete, neutral, and free from material error—not merely precise-looking.</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Comparability and consistency help users understand change; consistency is not a reason to preserve a wrong policy.</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Verifiability, timeliness, and understandability constrain how treatments, evidence, and explanations are designed.</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124</a:t>
            </a:r>
          </a:p>
        </p:txBody>
      </p:sp>
    </p:spTree>
  </p:cSld>
  <p:transition spd="slow">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A4 DECISION LENS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Three lenses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EVENT</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Relevance: information can influence decisions; materiality is entity-specific.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ACCOUNTING</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Faithful representation: complete, neutral, and free from material error—not merely precise-looking.</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CONTROL</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250" b="0">
                <a:solidFill>
                  <a:srgbClr val="17242B"/>
                </a:solidFill>
                <a:latin typeface="Arial"/>
              </a:rPr>
              <a:t>Comparability and consistency help users understand change; consistency is not a reason to preserve a wrong policy. Verifiability, timeliness, and understandability constrain how treatments, evidence, and explanations are designed.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125</a:t>
            </a:r>
          </a:p>
        </p:txBody>
      </p:sp>
    </p:spTree>
  </p:cSld>
  <p:transition spd="slow">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WORKED CONTROL CHECK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Qualitative characteristics · Acceptance logic</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Relevance: information can influence decisions; materiality is entity-specific.</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Faithful representation: complete, neutral, and free from material error—not merely precise-looking.</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Comparability and consistency help users understand change; consistency is not a reason to preserve a wrong policy.</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Verifiability, timeliness, and understandability constrain how treatments, evidence, and explanations are designed.</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126</a:t>
            </a:r>
          </a:p>
        </p:txBody>
      </p:sp>
    </p:spTree>
  </p:cSld>
  <p:transition spd="slow">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IMPACT ASSESSMENT</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System-to-standard bridge</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1</a:t>
            </a:r>
          </a:p>
          <a:p>
            <a:pPr algn="l">
              <a:spcAft>
                <a:spcPts val="400"/>
              </a:spcAft>
            </a:pPr>
            <a:r>
              <a:rPr sz="1250" b="0">
                <a:solidFill>
                  <a:srgbClr val="5B6573"/>
                </a:solidFill>
                <a:latin typeface="Arial"/>
              </a:rPr>
              <a:t>Translate a new or changed requirement into affected transactions, masters, estimates, reports, controls, and disclosures.</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2</a:t>
            </a:r>
          </a:p>
          <a:p>
            <a:pPr algn="l">
              <a:spcAft>
                <a:spcPts val="400"/>
              </a:spcAft>
            </a:pPr>
            <a:r>
              <a:rPr sz="1250" b="0">
                <a:solidFill>
                  <a:srgbClr val="5B6573"/>
                </a:solidFill>
                <a:latin typeface="Arial"/>
              </a:rPr>
              <a:t>Determine opening/transition adjustments, effective date, comparative treatment, and audit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3</a:t>
            </a:r>
          </a:p>
          <a:p>
            <a:pPr algn="l">
              <a:spcAft>
                <a:spcPts val="400"/>
              </a:spcAft>
            </a:pPr>
            <a:r>
              <a:rPr sz="1250" b="0">
                <a:solidFill>
                  <a:srgbClr val="5B6573"/>
                </a:solidFill>
                <a:latin typeface="Arial"/>
              </a:rPr>
              <a:t>Configure accounts, products/services, recurring entries, custom fields, reports, and close checklists only after policy approval.</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Lens 4</a:t>
            </a:r>
          </a:p>
          <a:p>
            <a:pPr algn="l">
              <a:spcAft>
                <a:spcPts val="400"/>
              </a:spcAft>
            </a:pPr>
            <a:r>
              <a:rPr sz="1250" b="0">
                <a:solidFill>
                  <a:srgbClr val="5B6573"/>
                </a:solidFill>
                <a:latin typeface="Arial"/>
              </a:rPr>
              <a:t>Test the full chain in a sample company before production and document residual manual controls.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127</a:t>
            </a:r>
          </a:p>
        </p:txBody>
      </p:sp>
    </p:spTree>
  </p:cSld>
  <p:transition spd="slow">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F59E0B"/>
                </a:solidFill>
                <a:latin typeface="Arial"/>
              </a:rPr>
              <a:t>IMPACT ASSESSMENT</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000" b="1">
                <a:solidFill>
                  <a:srgbClr val="17242B"/>
                </a:solidFill>
                <a:latin typeface="Arial"/>
              </a:rPr>
              <a:t>Translate a new or changed requirement into affected transactions, masters, estimates, reports, controls, and disclosures.</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500" b="0">
                <a:solidFill>
                  <a:srgbClr val="5B6573"/>
                </a:solidFill>
                <a:latin typeface="Arial"/>
              </a:rPr>
              <a:t>Determine opening/transition adjustments, effective date, comparative treatment, and audit evidence. Configure accounts, products/services, recurring entries, custom fields, reports, and close checklists only after policy approval. Test the full chain in a sample company before production and document residual manual controls.</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128</a:t>
            </a:r>
          </a:p>
        </p:txBody>
      </p:sp>
    </p:spTree>
  </p:cSld>
  <p:transition spd="slow">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920240"/>
            <a:ext cx="9326880" cy="347472"/>
          </a:xfrm>
          <a:prstGeom prst="rect">
            <a:avLst/>
          </a:prstGeom>
          <a:noFill/>
        </p:spPr>
        <p:txBody>
          <a:bodyPr wrap="square" anchor="t" lIns="54864" rIns="54864" tIns="54864" bIns="54864">
            <a:spAutoFit/>
          </a:bodyPr>
          <a:lstStyle/>
          <a:p>
            <a:pPr algn="l">
              <a:spcAft>
                <a:spcPts val="400"/>
              </a:spcAft>
            </a:pPr>
            <a:r>
              <a:rPr sz="1300" b="1">
                <a:solidFill>
                  <a:srgbClr val="7C3AED"/>
                </a:solidFill>
                <a:latin typeface="Arial"/>
              </a:rPr>
              <a:t>TOPIC 3 PRACTICE</a:t>
            </a:r>
          </a:p>
        </p:txBody>
      </p:sp>
      <p:sp>
        <p:nvSpPr>
          <p:cNvPr id="5" name="TextBox 4"/>
          <p:cNvSpPr txBox="1"/>
          <p:nvPr/>
        </p:nvSpPr>
        <p:spPr>
          <a:xfrm>
            <a:off x="841248" y="2359152"/>
            <a:ext cx="9875520" cy="1234440"/>
          </a:xfrm>
          <a:prstGeom prst="rect">
            <a:avLst/>
          </a:prstGeom>
          <a:noFill/>
        </p:spPr>
        <p:txBody>
          <a:bodyPr wrap="square" anchor="ctr" lIns="54864" rIns="54864" tIns="54864" bIns="54864">
            <a:spAutoFit/>
          </a:bodyPr>
          <a:lstStyle/>
          <a:p>
            <a:pPr algn="l">
              <a:spcAft>
                <a:spcPts val="400"/>
              </a:spcAft>
            </a:pPr>
            <a:r>
              <a:rPr sz="3900" b="1">
                <a:solidFill>
                  <a:srgbClr val="17242B"/>
                </a:solidFill>
                <a:latin typeface="Arial"/>
              </a:rPr>
              <a:t>Progressive Activities</a:t>
            </a:r>
          </a:p>
        </p:txBody>
      </p:sp>
      <p:sp>
        <p:nvSpPr>
          <p:cNvPr id="6" name="TextBox 5"/>
          <p:cNvSpPr txBox="1"/>
          <p:nvPr/>
        </p:nvSpPr>
        <p:spPr>
          <a:xfrm>
            <a:off x="859536" y="3858768"/>
            <a:ext cx="9692640" cy="713232"/>
          </a:xfrm>
          <a:prstGeom prst="rect">
            <a:avLst/>
          </a:prstGeom>
          <a:noFill/>
        </p:spPr>
        <p:txBody>
          <a:bodyPr wrap="square" anchor="t" lIns="54864" rIns="54864" tIns="54864" bIns="54864">
            <a:spAutoFit/>
          </a:bodyPr>
          <a:lstStyle/>
          <a:p>
            <a:pPr algn="l">
              <a:spcAft>
                <a:spcPts val="400"/>
              </a:spcAft>
            </a:pPr>
            <a:r>
              <a:rPr sz="1600" b="0">
                <a:solidFill>
                  <a:srgbClr val="5B6573"/>
                </a:solidFill>
                <a:latin typeface="Arial"/>
              </a:rPr>
              <a:t>Detailed click-by-click instructions, mock data, workbooks, evidence, and acceptance tests are in each activity folder and the Learner Guide.</a:t>
            </a:r>
          </a:p>
        </p:txBody>
      </p:sp>
      <p:sp>
        <p:nvSpPr>
          <p:cNvPr id="7" name="TextBox 6"/>
          <p:cNvSpPr txBox="1"/>
          <p:nvPr/>
        </p:nvSpPr>
        <p:spPr>
          <a:xfrm>
            <a:off x="9784080" y="566928"/>
            <a:ext cx="1645920" cy="1097280"/>
          </a:xfrm>
          <a:prstGeom prst="rect">
            <a:avLst/>
          </a:prstGeom>
          <a:noFill/>
        </p:spPr>
        <p:txBody>
          <a:bodyPr wrap="square" anchor="t" lIns="54864" rIns="54864" tIns="54864" bIns="54864">
            <a:spAutoFit/>
          </a:bodyPr>
          <a:lstStyle/>
          <a:p>
            <a:pPr algn="r">
              <a:spcAft>
                <a:spcPts val="400"/>
              </a:spcAft>
            </a:pPr>
            <a:r>
              <a:rPr sz="5800" b="1">
                <a:solidFill>
                  <a:srgbClr val="DFE6ED"/>
                </a:solidFill>
                <a:latin typeface="Arial"/>
              </a:rPr>
              <a:t>A12</a:t>
            </a:r>
          </a:p>
        </p:txBody>
      </p:sp>
      <p:sp>
        <p:nvSpPr>
          <p:cNvPr id="8" name="TextBox 7"/>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9" name="TextBox 8"/>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0" name="TextBox 9"/>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129</a:t>
            </a:r>
          </a:p>
        </p:txBody>
      </p:sp>
    </p:spTree>
  </p:cSld>
  <p:transition spd="slow">
    <p:fade/>
  </p:transition>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ACTIVITY 12 · CAPSTONE · K3, A2, A3, A4</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400" b="1">
                <a:solidFill>
                  <a:srgbClr val="17242B"/>
                </a:solidFill>
                <a:latin typeface="Arial"/>
              </a:rPr>
              <a:t>Capstone: Translate a Reporting Change into Books and Reports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6629400" cy="169164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29968"/>
            <a:ext cx="6144768" cy="320040"/>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SCENARIO</a:t>
            </a:r>
          </a:p>
        </p:txBody>
      </p:sp>
      <p:sp>
        <p:nvSpPr>
          <p:cNvPr id="9" name="TextBox 8"/>
          <p:cNvSpPr txBox="1"/>
          <p:nvPr/>
        </p:nvSpPr>
        <p:spPr>
          <a:xfrm>
            <a:off x="960120" y="2450592"/>
            <a:ext cx="6144768" cy="822960"/>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Evergreen Events moves from cash-basis habits to an accrual reporting framework while introducing deposits, contract milestones, inventory, equipment, and foreign suppliers.</a:t>
            </a:r>
          </a:p>
        </p:txBody>
      </p:sp>
      <p:sp>
        <p:nvSpPr>
          <p:cNvPr id="10" name="Rounded Rectangle 9"/>
          <p:cNvSpPr/>
          <p:nvPr/>
        </p:nvSpPr>
        <p:spPr>
          <a:xfrm>
            <a:off x="713232" y="3730752"/>
            <a:ext cx="6629400" cy="2057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931920"/>
            <a:ext cx="6144768" cy="320040"/>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GOAL</a:t>
            </a:r>
          </a:p>
        </p:txBody>
      </p:sp>
      <p:sp>
        <p:nvSpPr>
          <p:cNvPr id="12" name="TextBox 11"/>
          <p:cNvSpPr txBox="1"/>
          <p:nvPr/>
        </p:nvSpPr>
        <p:spPr>
          <a:xfrm>
            <a:off x="960120" y="4334256"/>
            <a:ext cx="6144768" cy="1005840"/>
          </a:xfrm>
          <a:prstGeom prst="rect">
            <a:avLst/>
          </a:prstGeom>
          <a:noFill/>
        </p:spPr>
        <p:txBody>
          <a:bodyPr wrap="square" anchor="t" lIns="54864" rIns="54864" tIns="54864" bIns="54864">
            <a:spAutoFit/>
          </a:bodyPr>
          <a:lstStyle/>
          <a:p>
            <a:pPr algn="l">
              <a:spcAft>
                <a:spcPts val="400"/>
              </a:spcAft>
            </a:pPr>
            <a:r>
              <a:rPr sz="1500" b="1">
                <a:solidFill>
                  <a:srgbClr val="17242B"/>
                </a:solidFill>
                <a:latin typeface="Arial"/>
              </a:rPr>
              <a:t>Assess policy impacts, post a controlled close, produce corrected statements, and present the qualitative-characteristic effects to management.</a:t>
            </a:r>
          </a:p>
        </p:txBody>
      </p:sp>
      <p:sp>
        <p:nvSpPr>
          <p:cNvPr id="13" name="Rounded Rectangle 12"/>
          <p:cNvSpPr/>
          <p:nvPr/>
        </p:nvSpPr>
        <p:spPr>
          <a:xfrm>
            <a:off x="7644383" y="1828800"/>
            <a:ext cx="3867912" cy="395935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2057400"/>
            <a:ext cx="3383280" cy="320040"/>
          </a:xfrm>
          <a:prstGeom prst="rect">
            <a:avLst/>
          </a:prstGeom>
          <a:noFill/>
        </p:spPr>
        <p:txBody>
          <a:bodyPr wrap="square" anchor="t" lIns="54864" rIns="54864" tIns="54864" bIns="54864">
            <a:spAutoFit/>
          </a:bodyPr>
          <a:lstStyle/>
          <a:p>
            <a:pPr algn="l">
              <a:spcAft>
                <a:spcPts val="400"/>
              </a:spcAft>
            </a:pPr>
            <a:r>
              <a:rPr sz="1100" b="1">
                <a:solidFill>
                  <a:srgbClr val="F59E0B"/>
                </a:solidFill>
                <a:latin typeface="Arial"/>
              </a:rPr>
              <a:t>DELIVERABLES</a:t>
            </a:r>
          </a:p>
        </p:txBody>
      </p:sp>
      <p:sp>
        <p:nvSpPr>
          <p:cNvPr id="15" name="Oval 14"/>
          <p:cNvSpPr/>
          <p:nvPr/>
        </p:nvSpPr>
        <p:spPr>
          <a:xfrm>
            <a:off x="7909560" y="2633472"/>
            <a:ext cx="329184" cy="32918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642615"/>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1</a:t>
            </a:r>
          </a:p>
        </p:txBody>
      </p:sp>
      <p:sp>
        <p:nvSpPr>
          <p:cNvPr id="17" name="TextBox 16"/>
          <p:cNvSpPr txBox="1"/>
          <p:nvPr/>
        </p:nvSpPr>
        <p:spPr>
          <a:xfrm>
            <a:off x="8394192" y="2606040"/>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Standards impact assessment</a:t>
            </a:r>
          </a:p>
        </p:txBody>
      </p:sp>
      <p:sp>
        <p:nvSpPr>
          <p:cNvPr id="18" name="Oval 17"/>
          <p:cNvSpPr/>
          <p:nvPr/>
        </p:nvSpPr>
        <p:spPr>
          <a:xfrm>
            <a:off x="7909560" y="3529584"/>
            <a:ext cx="329184" cy="32918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3538727"/>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2</a:t>
            </a:r>
          </a:p>
        </p:txBody>
      </p:sp>
      <p:sp>
        <p:nvSpPr>
          <p:cNvPr id="20" name="TextBox 19"/>
          <p:cNvSpPr txBox="1"/>
          <p:nvPr/>
        </p:nvSpPr>
        <p:spPr>
          <a:xfrm>
            <a:off x="8394192" y="3502152"/>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Approved adjustment pack and corrected statements</a:t>
            </a:r>
          </a:p>
        </p:txBody>
      </p:sp>
      <p:sp>
        <p:nvSpPr>
          <p:cNvPr id="21" name="Oval 20"/>
          <p:cNvSpPr/>
          <p:nvPr/>
        </p:nvSpPr>
        <p:spPr>
          <a:xfrm>
            <a:off x="7909560" y="4425696"/>
            <a:ext cx="329184" cy="3291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434840"/>
            <a:ext cx="329184" cy="274320"/>
          </a:xfrm>
          <a:prstGeom prst="rect">
            <a:avLst/>
          </a:prstGeom>
          <a:noFill/>
        </p:spPr>
        <p:txBody>
          <a:bodyPr wrap="square" anchor="ctr" lIns="54864" rIns="54864" tIns="54864" bIns="54864">
            <a:spAutoFit/>
          </a:bodyPr>
          <a:lstStyle/>
          <a:p>
            <a:pPr algn="ctr">
              <a:spcAft>
                <a:spcPts val="400"/>
              </a:spcAft>
            </a:pPr>
            <a:r>
              <a:rPr sz="1000" b="1">
                <a:solidFill>
                  <a:srgbClr val="FFFFFF"/>
                </a:solidFill>
                <a:latin typeface="Arial"/>
              </a:rPr>
              <a:t>3</a:t>
            </a:r>
          </a:p>
        </p:txBody>
      </p:sp>
      <p:sp>
        <p:nvSpPr>
          <p:cNvPr id="23" name="TextBox 22"/>
          <p:cNvSpPr txBox="1"/>
          <p:nvPr/>
        </p:nvSpPr>
        <p:spPr>
          <a:xfrm>
            <a:off x="8394192" y="4398264"/>
            <a:ext cx="2834640" cy="731520"/>
          </a:xfrm>
          <a:prstGeom prst="rect">
            <a:avLst/>
          </a:prstGeom>
          <a:noFill/>
        </p:spPr>
        <p:txBody>
          <a:bodyPr wrap="square" anchor="ctr" lIns="54864" rIns="54864" tIns="54864" bIns="54864">
            <a:spAutoFit/>
          </a:bodyPr>
          <a:lstStyle/>
          <a:p>
            <a:pPr algn="l">
              <a:spcAft>
                <a:spcPts val="400"/>
              </a:spcAft>
            </a:pPr>
            <a:r>
              <a:rPr sz="1300" b="0">
                <a:solidFill>
                  <a:srgbClr val="17242B"/>
                </a:solidFill>
                <a:latin typeface="Arial"/>
              </a:rPr>
              <a:t>Management presentation with controls and disclosures</a:t>
            </a:r>
          </a:p>
        </p:txBody>
      </p:sp>
      <p:sp>
        <p:nvSpPr>
          <p:cNvPr id="24" name="TextBox 2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5" name="TextBox 2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6" name="TextBox 2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130</a:t>
            </a:r>
          </a:p>
        </p:txBody>
      </p:sp>
    </p:spTree>
  </p:cSld>
  <p:transition spd="slow">
    <p:fade/>
  </p:transition>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NO CLICK-BY-CLICK STEPS ON SLIDES · SEE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Activity 12 · Acceptance Criteria</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28800"/>
            <a:ext cx="10789920" cy="40050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2240280"/>
            <a:ext cx="868680" cy="8686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68296"/>
            <a:ext cx="868680" cy="530352"/>
          </a:xfrm>
          <a:prstGeom prst="rect">
            <a:avLst/>
          </a:prstGeom>
          <a:noFill/>
        </p:spPr>
        <p:txBody>
          <a:bodyPr wrap="square" anchor="ctr" lIns="54864" rIns="54864" tIns="54864" bIns="54864">
            <a:spAutoFit/>
          </a:bodyPr>
          <a:lstStyle/>
          <a:p>
            <a:pPr algn="ctr">
              <a:spcAft>
                <a:spcPts val="400"/>
              </a:spcAft>
            </a:pPr>
            <a:r>
              <a:rPr sz="2800" b="1">
                <a:solidFill>
                  <a:srgbClr val="FFFFFF"/>
                </a:solidFill>
                <a:latin typeface="Arial"/>
              </a:rPr>
              <a:t>✓</a:t>
            </a:r>
          </a:p>
        </p:txBody>
      </p:sp>
      <p:sp>
        <p:nvSpPr>
          <p:cNvPr id="10" name="TextBox 9"/>
          <p:cNvSpPr txBox="1"/>
          <p:nvPr/>
        </p:nvSpPr>
        <p:spPr>
          <a:xfrm>
            <a:off x="2212848" y="2130552"/>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01</a:t>
            </a:r>
            <a:r>
              <a:rPr sz="1500" b="0">
                <a:solidFill>
                  <a:srgbClr val="17242B"/>
                </a:solidFill>
                <a:latin typeface="Arial"/>
              </a:rPr>
              <a:t>  All K3/A4 impacts are addressed</a:t>
            </a:r>
          </a:p>
        </p:txBody>
      </p:sp>
      <p:sp>
        <p:nvSpPr>
          <p:cNvPr id="11" name="TextBox 10"/>
          <p:cNvSpPr txBox="1"/>
          <p:nvPr/>
        </p:nvSpPr>
        <p:spPr>
          <a:xfrm>
            <a:off x="2212848" y="2980944"/>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02</a:t>
            </a:r>
            <a:r>
              <a:rPr sz="1500" b="0">
                <a:solidFill>
                  <a:srgbClr val="17242B"/>
                </a:solidFill>
                <a:latin typeface="Arial"/>
              </a:rPr>
              <a:t>  Entries and statements reconcile</a:t>
            </a:r>
          </a:p>
        </p:txBody>
      </p:sp>
      <p:sp>
        <p:nvSpPr>
          <p:cNvPr id="12" name="TextBox 11"/>
          <p:cNvSpPr txBox="1"/>
          <p:nvPr/>
        </p:nvSpPr>
        <p:spPr>
          <a:xfrm>
            <a:off x="2212848" y="3831336"/>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03</a:t>
            </a:r>
            <a:r>
              <a:rPr sz="1500" b="0">
                <a:solidFill>
                  <a:srgbClr val="17242B"/>
                </a:solidFill>
                <a:latin typeface="Arial"/>
              </a:rPr>
              <a:t>  Qualitative-characteristic analysis is specific</a:t>
            </a:r>
          </a:p>
        </p:txBody>
      </p:sp>
      <p:sp>
        <p:nvSpPr>
          <p:cNvPr id="13" name="TextBox 12"/>
          <p:cNvSpPr txBox="1"/>
          <p:nvPr/>
        </p:nvSpPr>
        <p:spPr>
          <a:xfrm>
            <a:off x="2212848" y="4681728"/>
            <a:ext cx="8778240" cy="749808"/>
          </a:xfrm>
          <a:prstGeom prst="rect">
            <a:avLst/>
          </a:prstGeom>
          <a:noFill/>
        </p:spPr>
        <p:txBody>
          <a:bodyPr wrap="square" anchor="ctr" lIns="54864" rIns="54864" tIns="54864" bIns="54864">
            <a:spAutoFit/>
          </a:bodyPr>
          <a:lstStyle/>
          <a:p>
            <a:pPr algn="l">
              <a:spcAft>
                <a:spcPts val="400"/>
              </a:spcAft>
            </a:pPr>
            <a:r>
              <a:rPr sz="1200" b="1">
                <a:solidFill>
                  <a:srgbClr val="10B981"/>
                </a:solidFill>
                <a:latin typeface="Arial"/>
              </a:rPr>
              <a:t>04</a:t>
            </a:r>
            <a:r>
              <a:rPr sz="1500" b="0">
                <a:solidFill>
                  <a:srgbClr val="17242B"/>
                </a:solidFill>
                <a:latin typeface="Arial"/>
              </a:rPr>
              <a:t>  Management actions and controls are implementable</a:t>
            </a:r>
          </a:p>
        </p:txBody>
      </p:sp>
      <p:sp>
        <p:nvSpPr>
          <p:cNvPr id="14" name="TextBox 13"/>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15" name="TextBox 14"/>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16" name="TextBox 15"/>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131</a:t>
            </a:r>
          </a:p>
        </p:txBody>
      </p:sp>
    </p:spTree>
  </p:cSld>
  <p:transition spd="slow">
    <p:fade/>
  </p:transition>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7C3AED"/>
                </a:solidFill>
                <a:latin typeface="Arial"/>
              </a:rPr>
              <a:t>WHAT YOU SHOULD NOW BE ABLE TO DO</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Topic 3 Recap</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Explain</a:t>
            </a:r>
          </a:p>
          <a:p>
            <a:pPr algn="l">
              <a:spcAft>
                <a:spcPts val="400"/>
              </a:spcAft>
            </a:pPr>
            <a:r>
              <a:rPr sz="1250" b="0">
                <a:solidFill>
                  <a:srgbClr val="5B6573"/>
                </a:solidFill>
                <a:latin typeface="Arial"/>
              </a:rPr>
              <a:t>State the accounting logic, not only the QuickBooks action.</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Reconcile</a:t>
            </a:r>
          </a:p>
          <a:p>
            <a:pPr algn="l">
              <a:spcAft>
                <a:spcPts val="400"/>
              </a:spcAft>
            </a:pPr>
            <a:r>
              <a:rPr sz="1250" b="0">
                <a:solidFill>
                  <a:srgbClr val="5B6573"/>
                </a:solidFill>
                <a:latin typeface="Arial"/>
              </a:rPr>
              <a:t>Tie the source, subledger, GL, report, and evidence.</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Challenge</a:t>
            </a:r>
          </a:p>
          <a:p>
            <a:pPr algn="l">
              <a:spcAft>
                <a:spcPts val="400"/>
              </a:spcAft>
            </a:pPr>
            <a:r>
              <a:rPr sz="1250" b="0">
                <a:solidFill>
                  <a:srgbClr val="5B6573"/>
                </a:solidFill>
                <a:latin typeface="Arial"/>
              </a:rPr>
              <a:t>Investigate exceptions, estimates, feature availability, and period effects.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Approve</a:t>
            </a:r>
          </a:p>
          <a:p>
            <a:pPr algn="l">
              <a:spcAft>
                <a:spcPts val="400"/>
              </a:spcAft>
            </a:pPr>
            <a:r>
              <a:rPr sz="1250" b="0">
                <a:solidFill>
                  <a:srgbClr val="5B6573"/>
                </a:solidFill>
                <a:latin typeface="Arial"/>
              </a:rPr>
              <a:t>Record ownership, judgement, conclusion, and sign-off.</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132</a:t>
            </a:r>
          </a:p>
        </p:txBody>
      </p:sp>
    </p:spTree>
  </p:cSld>
  <p:transition spd="slow">
    <p:fade/>
  </p:transition>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0B981"/>
                </a:solidFill>
                <a:latin typeface="Arial"/>
              </a:rPr>
              <a:t>COURSE SUMMARY</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What You Achieved</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A1</a:t>
            </a:r>
          </a:p>
          <a:p>
            <a:pPr algn="l">
              <a:spcAft>
                <a:spcPts val="400"/>
              </a:spcAft>
            </a:pPr>
            <a:r>
              <a:rPr sz="1250" b="0">
                <a:solidFill>
                  <a:srgbClr val="5B6573"/>
                </a:solidFill>
                <a:latin typeface="Arial"/>
              </a:rPr>
              <a:t>Prepared advanced accounting treatments with control and evidence.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A2</a:t>
            </a:r>
          </a:p>
          <a:p>
            <a:pPr algn="l">
              <a:spcAft>
                <a:spcPts val="400"/>
              </a:spcAft>
            </a:pPr>
            <a:r>
              <a:rPr sz="1250" b="0">
                <a:solidFill>
                  <a:srgbClr val="5B6573"/>
                </a:solidFill>
                <a:latin typeface="Arial"/>
              </a:rPr>
              <a:t>Produced reconciled financial statements and supporting schedules.</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A3</a:t>
            </a:r>
          </a:p>
          <a:p>
            <a:pPr algn="l">
              <a:spcAft>
                <a:spcPts val="400"/>
              </a:spcAft>
            </a:pPr>
            <a:r>
              <a:rPr sz="1250" b="0">
                <a:solidFill>
                  <a:srgbClr val="5B6573"/>
                </a:solidFill>
                <a:latin typeface="Arial"/>
              </a:rPr>
              <a:t>Analysed drivers, risks, and actions for management.</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A4</a:t>
            </a:r>
          </a:p>
          <a:p>
            <a:pPr algn="l">
              <a:spcAft>
                <a:spcPts val="400"/>
              </a:spcAft>
            </a:pPr>
            <a:r>
              <a:rPr sz="1250" b="0">
                <a:solidFill>
                  <a:srgbClr val="5B6573"/>
                </a:solidFill>
                <a:latin typeface="Arial"/>
              </a:rPr>
              <a:t>Assessed reporting-standard impacts on financial information quality.</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133</a:t>
            </a:r>
          </a:p>
        </p:txBody>
      </p:sp>
    </p:spTree>
  </p:cSld>
  <p:transition spd="slow">
    <p:fade/>
  </p:transition>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LMS</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Courseware and Assessment on the LMS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DOWNLOAD</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Get the current learner slides, Learner Guide, Lesson Plan, and activity materials.</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COMPLETE</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Open the current WA and PP question papers and upload the completed answers.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CONFIRM</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Check digital attendance, submission, assessment outcome, feedback, and sign-off.</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134</a:t>
            </a:r>
          </a:p>
        </p:txBody>
      </p:sp>
      <p:sp>
        <p:nvSpPr>
          <p:cNvPr id="22" name="TextBox 21"/>
          <p:cNvSpPr txBox="1"/>
          <p:nvPr/>
        </p:nvSpPr>
        <p:spPr>
          <a:xfrm>
            <a:off x="822960" y="5989320"/>
            <a:ext cx="10607040" cy="320040"/>
          </a:xfrm>
          <a:prstGeom prst="rect">
            <a:avLst/>
          </a:prstGeom>
          <a:noFill/>
        </p:spPr>
        <p:txBody>
          <a:bodyPr wrap="none">
            <a:spAutoFit/>
          </a:bodyPr>
          <a:lstStyle/>
          <a:p>
            <a:pPr algn="ctr"/>
            <a:r>
              <a:rPr sz="1300">
                <a:solidFill>
                  <a:srgbClr val="1F6FEB"/>
                </a:solidFill>
                <a:latin typeface="Arial"/>
                <a:hlinkClick r:id="rId2"/>
              </a:rPr>
              <a:t>https://lms-tms.tertiaryinfotech.com/</a:t>
            </a:r>
          </a:p>
        </p:txBody>
      </p:sp>
    </p:spTree>
  </p:cSld>
  <p:transition spd="slow">
    <p:fade/>
  </p:transition>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1F6FEB"/>
                </a:solidFill>
                <a:latin typeface="Arial"/>
              </a:rPr>
              <a:t>CURRENT SOURCE REGISTER · FULL LINKS IN LEARNER GUIDE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Selected Authoritative Sources</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Course page</a:t>
            </a:r>
          </a:p>
          <a:p>
            <a:pPr algn="l">
              <a:spcAft>
                <a:spcPts val="400"/>
              </a:spcAft>
            </a:pPr>
            <a:r>
              <a:rPr sz="1250" b="0">
                <a:solidFill>
                  <a:srgbClr val="5B6573"/>
                </a:solidFill>
                <a:latin typeface="Arial"/>
              </a:rPr>
              <a:t>2 days/16 hours; LO1-LO3; published topic and assessment scope</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bank rules</a:t>
            </a:r>
          </a:p>
          <a:p>
            <a:pPr algn="l">
              <a:spcAft>
                <a:spcPts val="400"/>
              </a:spcAft>
            </a:pPr>
            <a:r>
              <a:rPr sz="1250" b="0">
                <a:solidFill>
                  <a:srgbClr val="5B6573"/>
                </a:solidFill>
                <a:latin typeface="Arial"/>
              </a:rPr>
              <a:t>rule conditions, priority, review, auto-add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reconciliation</a:t>
            </a:r>
          </a:p>
          <a:p>
            <a:pPr algn="l">
              <a:spcAft>
                <a:spcPts val="400"/>
              </a:spcAft>
            </a:pPr>
            <a:r>
              <a:rPr sz="1250" b="0">
                <a:solidFill>
                  <a:srgbClr val="5B6573"/>
                </a:solidFill>
                <a:latin typeface="Arial"/>
              </a:rPr>
              <a:t>reconciliation purpose and prerequisites</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Intuit - projects</a:t>
            </a:r>
          </a:p>
          <a:p>
            <a:pPr algn="l">
              <a:spcAft>
                <a:spcPts val="400"/>
              </a:spcAft>
            </a:pPr>
            <a:r>
              <a:rPr sz="1250" b="0">
                <a:solidFill>
                  <a:srgbClr val="5B6573"/>
                </a:solidFill>
                <a:latin typeface="Arial"/>
              </a:rPr>
              <a:t>project setup and profitability tracking</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135</a:t>
            </a:r>
          </a:p>
        </p:txBody>
      </p:sp>
    </p:spTree>
  </p:cSld>
  <p:transition spd="slow">
    <p:fade/>
  </p:transition>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OPEN BOOK</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 Final Reminder</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74519"/>
            <a:ext cx="3401568" cy="12801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1F6FEB"/>
                </a:solidFill>
                <a:latin typeface="Arial"/>
              </a:rPr>
              <a:t>WA · 1 hour</a:t>
            </a:r>
          </a:p>
        </p:txBody>
      </p:sp>
      <p:sp>
        <p:nvSpPr>
          <p:cNvPr id="10" name="TextBox 9"/>
          <p:cNvSpPr txBox="1"/>
          <p:nvPr/>
        </p:nvSpPr>
        <p:spPr>
          <a:xfrm>
            <a:off x="9509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open-ended knowledge questions. Use your own words and cite course logic.</a:t>
            </a:r>
          </a:p>
        </p:txBody>
      </p:sp>
      <p:sp>
        <p:nvSpPr>
          <p:cNvPr id="11" name="Rounded Rectangle 10"/>
          <p:cNvSpPr/>
          <p:nvPr/>
        </p:nvSpPr>
        <p:spPr>
          <a:xfrm>
            <a:off x="4370832"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74519"/>
            <a:ext cx="3401568" cy="128016"/>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008E8E"/>
                </a:solidFill>
                <a:latin typeface="Arial"/>
              </a:rPr>
              <a:t>PP · 1 hour</a:t>
            </a:r>
          </a:p>
        </p:txBody>
      </p:sp>
      <p:sp>
        <p:nvSpPr>
          <p:cNvPr id="14" name="TextBox 13"/>
          <p:cNvSpPr txBox="1"/>
          <p:nvPr/>
        </p:nvSpPr>
        <p:spPr>
          <a:xfrm>
            <a:off x="4608576"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Three practical tasks. Preserve evidence and show reconciled outputs.</a:t>
            </a:r>
          </a:p>
        </p:txBody>
      </p:sp>
      <p:sp>
        <p:nvSpPr>
          <p:cNvPr id="15" name="Rounded Rectangle 14"/>
          <p:cNvSpPr/>
          <p:nvPr/>
        </p:nvSpPr>
        <p:spPr>
          <a:xfrm>
            <a:off x="8028431" y="1874519"/>
            <a:ext cx="3401568" cy="406908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874519"/>
            <a:ext cx="3401568" cy="12801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2240280"/>
            <a:ext cx="2926080" cy="566928"/>
          </a:xfrm>
          <a:prstGeom prst="rect">
            <a:avLst/>
          </a:prstGeom>
          <a:noFill/>
        </p:spPr>
        <p:txBody>
          <a:bodyPr wrap="square" anchor="ctr" lIns="54864" rIns="54864" tIns="54864" bIns="54864">
            <a:spAutoFit/>
          </a:bodyPr>
          <a:lstStyle/>
          <a:p>
            <a:pPr algn="l">
              <a:spcAft>
                <a:spcPts val="400"/>
              </a:spcAft>
            </a:pPr>
            <a:r>
              <a:rPr sz="1800" b="1">
                <a:solidFill>
                  <a:srgbClr val="7C3AED"/>
                </a:solidFill>
                <a:latin typeface="Arial"/>
              </a:rPr>
              <a:t>SUBMIT</a:t>
            </a:r>
          </a:p>
        </p:txBody>
      </p:sp>
      <p:sp>
        <p:nvSpPr>
          <p:cNvPr id="18" name="TextBox 17"/>
          <p:cNvSpPr txBox="1"/>
          <p:nvPr/>
        </p:nvSpPr>
        <p:spPr>
          <a:xfrm>
            <a:off x="8266175" y="2999232"/>
            <a:ext cx="2926080" cy="2487168"/>
          </a:xfrm>
          <a:prstGeom prst="rect">
            <a:avLst/>
          </a:prstGeom>
          <a:noFill/>
        </p:spPr>
        <p:txBody>
          <a:bodyPr wrap="square" anchor="t" lIns="54864" rIns="54864" tIns="54864" bIns="54864">
            <a:spAutoFit/>
          </a:bodyPr>
          <a:lstStyle/>
          <a:p>
            <a:pPr algn="l">
              <a:spcAft>
                <a:spcPts val="400"/>
              </a:spcAft>
            </a:pPr>
            <a:r>
              <a:rPr sz="1400" b="0">
                <a:solidFill>
                  <a:srgbClr val="17242B"/>
                </a:solidFill>
                <a:latin typeface="Arial"/>
              </a:rPr>
              <a:t>Take assessment digital attendance, upload on the LMS, receive feedback, and sign the summary record.</a:t>
            </a:r>
          </a:p>
        </p:txBody>
      </p:sp>
      <p:sp>
        <p:nvSpPr>
          <p:cNvPr id="19" name="TextBox 18"/>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0" name="TextBox 19"/>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1" name="TextBox 20"/>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136</a:t>
            </a:r>
          </a:p>
        </p:txBody>
      </p:sp>
    </p:spTree>
  </p:cSld>
  <p:transition spd="slow">
    <p:fade/>
  </p:transition>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DC2626"/>
                </a:solidFill>
                <a:latin typeface="Arial"/>
              </a:rPr>
              <a:t>MANDATORY SEQUENCE</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Assessment Flow · Final</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027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027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1</a:t>
            </a:r>
          </a:p>
        </p:txBody>
      </p:sp>
      <p:sp>
        <p:nvSpPr>
          <p:cNvPr id="10" name="TextBox 9"/>
          <p:cNvSpPr txBox="1"/>
          <p:nvPr/>
        </p:nvSpPr>
        <p:spPr>
          <a:xfrm>
            <a:off x="76809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TRAQOM digital attendance</a:t>
            </a:r>
          </a:p>
        </p:txBody>
      </p:sp>
      <p:sp>
        <p:nvSpPr>
          <p:cNvPr id="11" name="TextBox 10"/>
          <p:cNvSpPr txBox="1"/>
          <p:nvPr/>
        </p:nvSpPr>
        <p:spPr>
          <a:xfrm>
            <a:off x="265541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1F6FEB"/>
                </a:solidFill>
                <a:latin typeface="Arial"/>
              </a:rPr>
              <a:t>▶</a:t>
            </a:r>
          </a:p>
        </p:txBody>
      </p:sp>
      <p:sp>
        <p:nvSpPr>
          <p:cNvPr id="12" name="Rounded Rectangle 11"/>
          <p:cNvSpPr/>
          <p:nvPr/>
        </p:nvSpPr>
        <p:spPr>
          <a:xfrm>
            <a:off x="287487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16781" y="2414016"/>
            <a:ext cx="731520" cy="731520"/>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678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2</a:t>
            </a:r>
          </a:p>
        </p:txBody>
      </p:sp>
      <p:sp>
        <p:nvSpPr>
          <p:cNvPr id="15" name="TextBox 14"/>
          <p:cNvSpPr txBox="1"/>
          <p:nvPr/>
        </p:nvSpPr>
        <p:spPr>
          <a:xfrm>
            <a:off x="298460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Assessment digital attendance</a:t>
            </a:r>
          </a:p>
        </p:txBody>
      </p:sp>
      <p:sp>
        <p:nvSpPr>
          <p:cNvPr id="16" name="TextBox 15"/>
          <p:cNvSpPr txBox="1"/>
          <p:nvPr/>
        </p:nvSpPr>
        <p:spPr>
          <a:xfrm>
            <a:off x="487192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008E8E"/>
                </a:solidFill>
                <a:latin typeface="Arial"/>
              </a:rPr>
              <a:t>▶</a:t>
            </a:r>
          </a:p>
        </p:txBody>
      </p:sp>
      <p:sp>
        <p:nvSpPr>
          <p:cNvPr id="17" name="Rounded Rectangle 16"/>
          <p:cNvSpPr/>
          <p:nvPr/>
        </p:nvSpPr>
        <p:spPr>
          <a:xfrm>
            <a:off x="509137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3286" y="241401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3328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3</a:t>
            </a:r>
          </a:p>
        </p:txBody>
      </p:sp>
      <p:sp>
        <p:nvSpPr>
          <p:cNvPr id="20" name="TextBox 19"/>
          <p:cNvSpPr txBox="1"/>
          <p:nvPr/>
        </p:nvSpPr>
        <p:spPr>
          <a:xfrm>
            <a:off x="520110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Sit WA then PP · open book</a:t>
            </a:r>
          </a:p>
        </p:txBody>
      </p:sp>
      <p:sp>
        <p:nvSpPr>
          <p:cNvPr id="21" name="TextBox 20"/>
          <p:cNvSpPr txBox="1"/>
          <p:nvPr/>
        </p:nvSpPr>
        <p:spPr>
          <a:xfrm>
            <a:off x="7088427"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7C3AED"/>
                </a:solidFill>
                <a:latin typeface="Arial"/>
              </a:rPr>
              <a:t>▶</a:t>
            </a:r>
          </a:p>
        </p:txBody>
      </p:sp>
      <p:sp>
        <p:nvSpPr>
          <p:cNvPr id="22" name="Rounded Rectangle 21"/>
          <p:cNvSpPr/>
          <p:nvPr/>
        </p:nvSpPr>
        <p:spPr>
          <a:xfrm>
            <a:off x="7307883"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49791" y="241401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9791"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4</a:t>
            </a:r>
          </a:p>
        </p:txBody>
      </p:sp>
      <p:sp>
        <p:nvSpPr>
          <p:cNvPr id="25" name="TextBox 24"/>
          <p:cNvSpPr txBox="1"/>
          <p:nvPr/>
        </p:nvSpPr>
        <p:spPr>
          <a:xfrm>
            <a:off x="7417611"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Submit answers on the LMS</a:t>
            </a:r>
          </a:p>
        </p:txBody>
      </p:sp>
      <p:sp>
        <p:nvSpPr>
          <p:cNvPr id="26" name="TextBox 25"/>
          <p:cNvSpPr txBox="1"/>
          <p:nvPr/>
        </p:nvSpPr>
        <p:spPr>
          <a:xfrm>
            <a:off x="9304932" y="3310128"/>
            <a:ext cx="237744" cy="457200"/>
          </a:xfrm>
          <a:prstGeom prst="rect">
            <a:avLst/>
          </a:prstGeom>
          <a:noFill/>
        </p:spPr>
        <p:txBody>
          <a:bodyPr wrap="square" anchor="t" lIns="54864" rIns="54864" tIns="54864" bIns="54864">
            <a:spAutoFit/>
          </a:bodyPr>
          <a:lstStyle/>
          <a:p>
            <a:pPr algn="ctr">
              <a:spcAft>
                <a:spcPts val="400"/>
              </a:spcAft>
            </a:pPr>
            <a:r>
              <a:rPr sz="1400" b="1">
                <a:solidFill>
                  <a:srgbClr val="F59E0B"/>
                </a:solidFill>
                <a:latin typeface="Arial"/>
              </a:rPr>
              <a:t>▶</a:t>
            </a:r>
          </a:p>
        </p:txBody>
      </p:sp>
      <p:sp>
        <p:nvSpPr>
          <p:cNvPr id="27" name="Rounded Rectangle 26"/>
          <p:cNvSpPr/>
          <p:nvPr/>
        </p:nvSpPr>
        <p:spPr>
          <a:xfrm>
            <a:off x="9524388" y="2084831"/>
            <a:ext cx="2015337" cy="3200400"/>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66296" y="241401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66296" y="2487168"/>
            <a:ext cx="731520" cy="530352"/>
          </a:xfrm>
          <a:prstGeom prst="rect">
            <a:avLst/>
          </a:prstGeom>
          <a:noFill/>
        </p:spPr>
        <p:txBody>
          <a:bodyPr wrap="square" anchor="ctr" lIns="54864" rIns="54864" tIns="54864" bIns="54864">
            <a:spAutoFit/>
          </a:bodyPr>
          <a:lstStyle/>
          <a:p>
            <a:pPr algn="ctr">
              <a:spcAft>
                <a:spcPts val="400"/>
              </a:spcAft>
            </a:pPr>
            <a:r>
              <a:rPr sz="2300" b="1">
                <a:solidFill>
                  <a:srgbClr val="FFFFFF"/>
                </a:solidFill>
                <a:latin typeface="Arial"/>
              </a:rPr>
              <a:t>5</a:t>
            </a:r>
          </a:p>
        </p:txBody>
      </p:sp>
      <p:sp>
        <p:nvSpPr>
          <p:cNvPr id="30" name="TextBox 29"/>
          <p:cNvSpPr txBox="1"/>
          <p:nvPr/>
        </p:nvSpPr>
        <p:spPr>
          <a:xfrm>
            <a:off x="9634116" y="3346704"/>
            <a:ext cx="1795881" cy="1481328"/>
          </a:xfrm>
          <a:prstGeom prst="rect">
            <a:avLst/>
          </a:prstGeom>
          <a:noFill/>
        </p:spPr>
        <p:txBody>
          <a:bodyPr wrap="square" anchor="ctr" lIns="54864" rIns="54864" tIns="54864" bIns="54864">
            <a:spAutoFit/>
          </a:bodyPr>
          <a:lstStyle/>
          <a:p>
            <a:pPr algn="ctr">
              <a:spcAft>
                <a:spcPts val="400"/>
              </a:spcAft>
            </a:pPr>
            <a:r>
              <a:rPr sz="1300" b="0">
                <a:solidFill>
                  <a:srgbClr val="17242B"/>
                </a:solidFill>
                <a:latin typeface="Arial"/>
              </a:rPr>
              <a:t>Sign Assessment Summary Record</a:t>
            </a:r>
          </a:p>
        </p:txBody>
      </p:sp>
      <p:sp>
        <p:nvSpPr>
          <p:cNvPr id="31" name="TextBox 30"/>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32" name="TextBox 31"/>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33" name="TextBox 32"/>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137</a:t>
            </a:r>
          </a:p>
        </p:txBody>
      </p:sp>
    </p:spTree>
  </p:cSld>
  <p:transition spd="slow">
    <p:fade/>
  </p:transition>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141732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0789920" cy="292608"/>
          </a:xfrm>
          <a:prstGeom prst="rect">
            <a:avLst/>
          </a:prstGeom>
          <a:noFill/>
        </p:spPr>
        <p:txBody>
          <a:bodyPr wrap="square" anchor="t" lIns="54864" rIns="54864" tIns="54864" bIns="54864">
            <a:spAutoFit/>
          </a:bodyPr>
          <a:lstStyle/>
          <a:p>
            <a:pPr algn="l">
              <a:spcAft>
                <a:spcPts val="400"/>
              </a:spcAft>
            </a:pPr>
            <a:r>
              <a:rPr sz="1100" b="1">
                <a:solidFill>
                  <a:srgbClr val="008E8E"/>
                </a:solidFill>
                <a:latin typeface="Arial"/>
              </a:rPr>
              <a:t>TRAQOM · SSG</a:t>
            </a:r>
          </a:p>
        </p:txBody>
      </p:sp>
      <p:sp>
        <p:nvSpPr>
          <p:cNvPr id="5" name="TextBox 4"/>
          <p:cNvSpPr txBox="1"/>
          <p:nvPr/>
        </p:nvSpPr>
        <p:spPr>
          <a:xfrm>
            <a:off x="713232" y="713232"/>
            <a:ext cx="10881360" cy="685800"/>
          </a:xfrm>
          <a:prstGeom prst="rect">
            <a:avLst/>
          </a:prstGeom>
          <a:noFill/>
        </p:spPr>
        <p:txBody>
          <a:bodyPr wrap="square" anchor="ctr" lIns="54864" rIns="54864" tIns="54864" bIns="54864">
            <a:spAutoFit/>
          </a:bodyPr>
          <a:lstStyle/>
          <a:p>
            <a:pPr algn="l">
              <a:spcAft>
                <a:spcPts val="400"/>
              </a:spcAft>
            </a:pPr>
            <a:r>
              <a:rPr sz="2800" b="1">
                <a:solidFill>
                  <a:srgbClr val="17242B"/>
                </a:solidFill>
                <a:latin typeface="Arial"/>
              </a:rPr>
              <a:t>Digital Attendance · Mandatory</a:t>
            </a:r>
          </a:p>
        </p:txBody>
      </p:sp>
      <p:sp>
        <p:nvSpPr>
          <p:cNvPr id="6" name="Rectangle 5"/>
          <p:cNvSpPr/>
          <p:nvPr/>
        </p:nvSpPr>
        <p:spPr>
          <a:xfrm>
            <a:off x="713232" y="1554480"/>
            <a:ext cx="10789920" cy="18288"/>
          </a:xfrm>
          <a:prstGeom prst="rect">
            <a:avLst/>
          </a:prstGeom>
          <a:solidFill>
            <a:srgbClr val="DF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73152" cy="206197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558034"/>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1</a:t>
            </a:r>
          </a:p>
        </p:txBody>
      </p:sp>
      <p:sp>
        <p:nvSpPr>
          <p:cNvPr id="11" name="TextBox 10"/>
          <p:cNvSpPr txBox="1"/>
          <p:nvPr/>
        </p:nvSpPr>
        <p:spPr>
          <a:xfrm>
            <a:off x="1645920"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AM</a:t>
            </a:r>
          </a:p>
          <a:p>
            <a:pPr algn="l">
              <a:spcAft>
                <a:spcPts val="400"/>
              </a:spcAft>
            </a:pPr>
            <a:r>
              <a:rPr sz="1250" b="0">
                <a:solidFill>
                  <a:srgbClr val="5B6573"/>
                </a:solidFill>
                <a:latin typeface="Arial"/>
              </a:rPr>
              <a:t>Complete the SSG digital attendance when instructed.</a:t>
            </a:r>
          </a:p>
        </p:txBody>
      </p:sp>
      <p:sp>
        <p:nvSpPr>
          <p:cNvPr id="12" name="Rounded Rectangle 11"/>
          <p:cNvSpPr/>
          <p:nvPr/>
        </p:nvSpPr>
        <p:spPr>
          <a:xfrm>
            <a:off x="6236208" y="1783080"/>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83080"/>
            <a:ext cx="73152" cy="2061972"/>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5664" y="2558034"/>
            <a:ext cx="512064" cy="512064"/>
          </a:xfrm>
          <a:prstGeom prst="ellipse">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7178"/>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8896" y="1874520"/>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PM</a:t>
            </a:r>
          </a:p>
          <a:p>
            <a:pPr algn="l">
              <a:spcAft>
                <a:spcPts val="400"/>
              </a:spcAft>
            </a:pPr>
            <a:r>
              <a:rPr sz="1250" b="0">
                <a:solidFill>
                  <a:srgbClr val="5B6573"/>
                </a:solidFill>
                <a:latin typeface="Arial"/>
              </a:rPr>
              <a:t>Complete the afternoon attendance when instructed.</a:t>
            </a:r>
          </a:p>
        </p:txBody>
      </p:sp>
      <p:sp>
        <p:nvSpPr>
          <p:cNvPr id="17" name="Rounded Rectangle 16"/>
          <p:cNvSpPr/>
          <p:nvPr/>
        </p:nvSpPr>
        <p:spPr>
          <a:xfrm>
            <a:off x="713232"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4064508"/>
            <a:ext cx="73152" cy="20619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839462"/>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3</a:t>
            </a:r>
          </a:p>
        </p:txBody>
      </p:sp>
      <p:sp>
        <p:nvSpPr>
          <p:cNvPr id="21" name="TextBox 20"/>
          <p:cNvSpPr txBox="1"/>
          <p:nvPr/>
        </p:nvSpPr>
        <p:spPr>
          <a:xfrm>
            <a:off x="1645920"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Assessment</a:t>
            </a:r>
          </a:p>
          <a:p>
            <a:pPr algn="l">
              <a:spcAft>
                <a:spcPts val="400"/>
              </a:spcAft>
            </a:pPr>
            <a:r>
              <a:rPr sz="1250" b="0">
                <a:solidFill>
                  <a:srgbClr val="5B6573"/>
                </a:solidFill>
                <a:latin typeface="Arial"/>
              </a:rPr>
              <a:t>Complete assessment digital attendance before WA and PP.</a:t>
            </a:r>
          </a:p>
        </p:txBody>
      </p:sp>
      <p:sp>
        <p:nvSpPr>
          <p:cNvPr id="22" name="Rounded Rectangle 21"/>
          <p:cNvSpPr/>
          <p:nvPr/>
        </p:nvSpPr>
        <p:spPr>
          <a:xfrm>
            <a:off x="6236208" y="4064508"/>
            <a:ext cx="5266944" cy="2061972"/>
          </a:xfrm>
          <a:prstGeom prst="roundRect">
            <a:avLst/>
          </a:prstGeom>
          <a:solidFill>
            <a:srgbClr val="F4F7FA"/>
          </a:solidFill>
          <a:ln w="12700">
            <a:solidFill>
              <a:srgbClr val="DF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4064508"/>
            <a:ext cx="73152" cy="206197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5664" y="4839462"/>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4848606"/>
            <a:ext cx="512064" cy="457200"/>
          </a:xfrm>
          <a:prstGeom prst="rect">
            <a:avLst/>
          </a:prstGeom>
          <a:noFill/>
        </p:spPr>
        <p:txBody>
          <a:bodyPr wrap="square" anchor="ctr" lIns="54864" rIns="54864" tIns="54864" bIns="54864">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8896" y="4155948"/>
            <a:ext cx="4123944" cy="1915668"/>
          </a:xfrm>
          <a:prstGeom prst="rect">
            <a:avLst/>
          </a:prstGeom>
          <a:noFill/>
        </p:spPr>
        <p:txBody>
          <a:bodyPr wrap="square" anchor="ctr" lIns="54864" rIns="54864" tIns="54864" bIns="54864">
            <a:spAutoFit/>
          </a:bodyPr>
          <a:lstStyle/>
          <a:p>
            <a:pPr algn="l">
              <a:spcAft>
                <a:spcPts val="400"/>
              </a:spcAft>
            </a:pPr>
            <a:r>
              <a:rPr sz="1550" b="1">
                <a:solidFill>
                  <a:srgbClr val="17242B"/>
                </a:solidFill>
                <a:latin typeface="Arial"/>
              </a:rPr>
              <a:t>Confirmation</a:t>
            </a:r>
          </a:p>
          <a:p>
            <a:pPr algn="l">
              <a:spcAft>
                <a:spcPts val="400"/>
              </a:spcAft>
            </a:pPr>
            <a:r>
              <a:rPr sz="1250" b="0">
                <a:solidFill>
                  <a:srgbClr val="5B6573"/>
                </a:solidFill>
                <a:latin typeface="Arial"/>
              </a:rPr>
              <a:t>Check successful submission; seek help immediately if the scan or submission fails.</a:t>
            </a:r>
          </a:p>
        </p:txBody>
      </p:sp>
      <p:sp>
        <p:nvSpPr>
          <p:cNvPr id="27" name="TextBox 2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28" name="TextBox 2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29" name="TextBox 2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138</a:t>
            </a:r>
          </a:p>
        </p:txBody>
      </p:sp>
    </p:spTree>
  </p:cSld>
  <p:transition spd="slow">
    <p:fade/>
  </p:transition>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241280" cy="320040"/>
          </a:xfrm>
          <a:prstGeom prst="rect">
            <a:avLst/>
          </a:prstGeom>
          <a:noFill/>
        </p:spPr>
        <p:txBody>
          <a:bodyPr wrap="square" anchor="t" lIns="54864" rIns="54864" tIns="54864" bIns="54864">
            <a:spAutoFit/>
          </a:bodyPr>
          <a:lstStyle/>
          <a:p>
            <a:pPr algn="l">
              <a:spcAft>
                <a:spcPts val="400"/>
              </a:spcAft>
            </a:pPr>
            <a:r>
              <a:rPr sz="1200" b="1">
                <a:solidFill>
                  <a:srgbClr val="008E8E"/>
                </a:solidFill>
                <a:latin typeface="Arial"/>
              </a:rPr>
              <a:t>QUESTIONS · SUPPORT · NEXT STEPS</a:t>
            </a:r>
          </a:p>
        </p:txBody>
      </p:sp>
      <p:sp>
        <p:nvSpPr>
          <p:cNvPr id="5" name="TextBox 4"/>
          <p:cNvSpPr txBox="1"/>
          <p:nvPr/>
        </p:nvSpPr>
        <p:spPr>
          <a:xfrm>
            <a:off x="914400" y="2194560"/>
            <a:ext cx="10241280" cy="1828800"/>
          </a:xfrm>
          <a:prstGeom prst="rect">
            <a:avLst/>
          </a:prstGeom>
          <a:noFill/>
        </p:spPr>
        <p:txBody>
          <a:bodyPr wrap="square" anchor="ctr" lIns="54864" rIns="54864" tIns="54864" bIns="54864">
            <a:spAutoFit/>
          </a:bodyPr>
          <a:lstStyle/>
          <a:p>
            <a:pPr algn="l">
              <a:spcAft>
                <a:spcPts val="400"/>
              </a:spcAft>
            </a:pPr>
            <a:r>
              <a:rPr sz="3500" b="1">
                <a:solidFill>
                  <a:srgbClr val="17242B"/>
                </a:solidFill>
                <a:latin typeface="Arial"/>
              </a:rPr>
              <a:t>Thank you</a:t>
            </a:r>
          </a:p>
        </p:txBody>
      </p:sp>
      <p:sp>
        <p:nvSpPr>
          <p:cNvPr id="6" name="TextBox 5"/>
          <p:cNvSpPr txBox="1"/>
          <p:nvPr/>
        </p:nvSpPr>
        <p:spPr>
          <a:xfrm>
            <a:off x="932688" y="4224528"/>
            <a:ext cx="9875520" cy="1325880"/>
          </a:xfrm>
          <a:prstGeom prst="rect">
            <a:avLst/>
          </a:prstGeom>
          <a:noFill/>
        </p:spPr>
        <p:txBody>
          <a:bodyPr wrap="square" anchor="t" lIns="54864" rIns="54864" tIns="54864" bIns="54864">
            <a:spAutoFit/>
          </a:bodyPr>
          <a:lstStyle/>
          <a:p>
            <a:pPr algn="l">
              <a:spcAft>
                <a:spcPts val="400"/>
              </a:spcAft>
            </a:pPr>
            <a:r>
              <a:rPr sz="1800" b="0">
                <a:solidFill>
                  <a:srgbClr val="5B6573"/>
                </a:solidFill>
                <a:latin typeface="Arial"/>
              </a:rPr>
              <a:t>Apply the control logic to a QuickBooks Online practice company, retain evidence, and escalate accounting or tax judgement when needed.</a:t>
            </a:r>
          </a:p>
        </p:txBody>
      </p:sp>
      <p:sp>
        <p:nvSpPr>
          <p:cNvPr id="7" name="TextBox 6"/>
          <p:cNvSpPr txBox="1"/>
          <p:nvPr/>
        </p:nvSpPr>
        <p:spPr>
          <a:xfrm>
            <a:off x="411480" y="6419088"/>
            <a:ext cx="5669280" cy="256032"/>
          </a:xfrm>
          <a:prstGeom prst="rect">
            <a:avLst/>
          </a:prstGeom>
          <a:noFill/>
        </p:spPr>
        <p:txBody>
          <a:bodyPr wrap="square" anchor="t" lIns="54864" rIns="54864" tIns="54864" bIns="54864">
            <a:spAutoFit/>
          </a:bodyPr>
          <a:lstStyle/>
          <a:p>
            <a:pPr algn="l">
              <a:spcAft>
                <a:spcPts val="400"/>
              </a:spcAft>
            </a:pPr>
            <a:r>
              <a:rPr sz="850" b="0">
                <a:solidFill>
                  <a:srgbClr val="5B6573"/>
                </a:solidFill>
                <a:latin typeface="Arial"/>
              </a:rPr>
              <a:t>Advanced Transactional Accounting with QuickBooks Online · TGS-2023018989</a:t>
            </a:r>
          </a:p>
        </p:txBody>
      </p:sp>
      <p:sp>
        <p:nvSpPr>
          <p:cNvPr id="8" name="TextBox 7"/>
          <p:cNvSpPr txBox="1"/>
          <p:nvPr/>
        </p:nvSpPr>
        <p:spPr>
          <a:xfrm>
            <a:off x="4389120" y="6419088"/>
            <a:ext cx="3657600" cy="256032"/>
          </a:xfrm>
          <a:prstGeom prst="rect">
            <a:avLst/>
          </a:prstGeom>
          <a:noFill/>
        </p:spPr>
        <p:txBody>
          <a:bodyPr wrap="square" anchor="t" lIns="54864" rIns="54864" tIns="54864" bIns="54864">
            <a:spAutoFit/>
          </a:bodyPr>
          <a:lstStyle/>
          <a:p>
            <a:pPr algn="ctr">
              <a:spcAft>
                <a:spcPts val="400"/>
              </a:spcAft>
            </a:pPr>
            <a:r>
              <a:rPr sz="850" b="0">
                <a:solidFill>
                  <a:srgbClr val="5B6573"/>
                </a:solidFill>
                <a:latin typeface="Arial"/>
              </a:rPr>
              <a:t>© Tertiary Infotech Academy Pte Ltd</a:t>
            </a:r>
          </a:p>
        </p:txBody>
      </p:sp>
      <p:sp>
        <p:nvSpPr>
          <p:cNvPr id="9" name="TextBox 8"/>
          <p:cNvSpPr txBox="1"/>
          <p:nvPr/>
        </p:nvSpPr>
        <p:spPr>
          <a:xfrm>
            <a:off x="11064240" y="6419088"/>
            <a:ext cx="640080" cy="256032"/>
          </a:xfrm>
          <a:prstGeom prst="rect">
            <a:avLst/>
          </a:prstGeom>
          <a:noFill/>
        </p:spPr>
        <p:txBody>
          <a:bodyPr wrap="square" anchor="t" lIns="54864" rIns="54864" tIns="54864" bIns="54864">
            <a:spAutoFit/>
          </a:bodyPr>
          <a:lstStyle/>
          <a:p>
            <a:pPr algn="r">
              <a:spcAft>
                <a:spcPts val="400"/>
              </a:spcAft>
            </a:pPr>
            <a:r>
              <a:rPr sz="850" b="0">
                <a:solidFill>
                  <a:srgbClr val="5B6573"/>
                </a:solidFill>
                <a:latin typeface="Arial"/>
              </a:rPr>
              <a:t>139</a:t>
            </a:r>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